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s/slide29.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30.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24.xml" ContentType="application/vnd.openxmlformats-officedocument.presentationml.notesSlide+xml"/>
  <Override PartName="/ppt/notesSlides/notesSlide22.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9.xml" ContentType="application/vnd.openxmlformats-officedocument.presentationml.notesSlide+xml"/>
  <Override PartName="/ppt/slideMasters/slideMaster2.xml" ContentType="application/vnd.openxmlformats-officedocument.presentationml.slideMaster+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1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33"/>
  </p:notesMasterIdLst>
  <p:handoutMasterIdLst>
    <p:handoutMasterId r:id="rId34"/>
  </p:handoutMasterIdLst>
  <p:sldIdLst>
    <p:sldId id="330" r:id="rId3"/>
    <p:sldId id="331" r:id="rId4"/>
    <p:sldId id="334" r:id="rId5"/>
    <p:sldId id="333" r:id="rId6"/>
    <p:sldId id="332"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4" r:id="rId27"/>
    <p:sldId id="355" r:id="rId28"/>
    <p:sldId id="356" r:id="rId29"/>
    <p:sldId id="357" r:id="rId30"/>
    <p:sldId id="358" r:id="rId31"/>
    <p:sldId id="298" r:id="rId32"/>
  </p:sldIdLst>
  <p:sldSz cx="9144000" cy="6858000" type="screen4x3"/>
  <p:notesSz cx="6858000" cy="9144000"/>
  <p:embeddedFontLst>
    <p:embeddedFont>
      <p:font typeface="Verdana" panose="020B0604030504040204" pitchFamily="34" charset="0"/>
      <p:regular r:id="rId35"/>
      <p:bold r:id="rId36"/>
      <p:italic r:id="rId37"/>
      <p:boldItalic r:id="rId38"/>
    </p:embeddedFont>
    <p:embeddedFont>
      <p:font typeface="Times" panose="02020603050405020304" pitchFamily="18" charset="0"/>
      <p:regular r:id="rId39"/>
      <p:bold r:id="rId40"/>
      <p:italic r:id="rId41"/>
      <p:boldItalic r:id="rId42"/>
    </p:embeddedFont>
    <p:embeddedFont>
      <p:font typeface="Noto Sans Symbols" panose="020B0604020202020204" charset="0"/>
      <p:regular r:id="rId43"/>
      <p:bold r:id="rId44"/>
      <p:italic r:id="rId45"/>
      <p:boldItalic r:id="rId46"/>
    </p:embeddedFont>
    <p:embeddedFont>
      <p:font typeface="Calibri" panose="020F050202020403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93" autoAdjust="0"/>
    <p:restoredTop sz="94343" autoAdjust="0"/>
  </p:normalViewPr>
  <p:slideViewPr>
    <p:cSldViewPr snapToGrid="0" snapToObjects="1">
      <p:cViewPr varScale="1">
        <p:scale>
          <a:sx n="73" d="100"/>
          <a:sy n="73" d="100"/>
        </p:scale>
        <p:origin x="1188" y="84"/>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21" Type="http://schemas.openxmlformats.org/officeDocument/2006/relationships/slide" Target="slides/slide19.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customXml" Target="../customXml/item1.xml"/><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font" Target="fonts/font7.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customXml" Target="../customXml/item2.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0.fntdata"/><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sz="1200" kern="1200" baseline="0" dirty="0">
                <a:solidFill>
                  <a:schemeClr val="tx1"/>
                </a:solidFill>
                <a:latin typeface="Times New Roman" pitchFamily="-110" charset="0"/>
                <a:ea typeface="+mn-ea"/>
                <a:cs typeface="+mn-cs"/>
              </a:rPr>
              <a:t>This chapter looks at some of the most widely used and important Internet security protocols and standards.</a:t>
            </a:r>
            <a:endParaRPr lang="en-US" dirty="0"/>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cap="none" dirty="0">
                <a:solidFill>
                  <a:schemeClr val="tx1"/>
                </a:solidFill>
                <a:effectLst/>
                <a:latin typeface="Times New Roman" pitchFamily="-110" charset="0"/>
                <a:ea typeface="Arial"/>
                <a:cs typeface="Arial"/>
                <a:sym typeface="Arial"/>
              </a:rPr>
              <a:t>S/MIME </a:t>
            </a:r>
            <a:r>
              <a:rPr lang="en-US" sz="1200" b="0" i="0" u="none" strike="noStrike" kern="1200" cap="none" dirty="0">
                <a:solidFill>
                  <a:schemeClr val="tx1"/>
                </a:solidFill>
                <a:effectLst/>
                <a:latin typeface="Times New Roman" pitchFamily="-110" charset="0"/>
                <a:ea typeface="Arial"/>
                <a:cs typeface="Arial"/>
                <a:sym typeface="Arial"/>
              </a:rPr>
              <a:t>(Secure/Multipurpose Internet Mail Extension) is a security enhancement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to the MIME Internet e-mail format standard.</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MIME is an extension to the old RFC 822 (</a:t>
            </a:r>
            <a:r>
              <a:rPr lang="en-US" sz="1200" b="0" i="1" u="none" strike="noStrike" kern="1200" cap="none" baseline="0" dirty="0">
                <a:solidFill>
                  <a:schemeClr val="tx1"/>
                </a:solidFill>
                <a:latin typeface="Times New Roman" pitchFamily="-110" charset="0"/>
                <a:ea typeface="Arial"/>
                <a:cs typeface="Arial"/>
                <a:sym typeface="Arial"/>
              </a:rPr>
              <a:t>Standard For The Format of ARPA Internet Text Messages, </a:t>
            </a:r>
            <a:r>
              <a:rPr lang="en-US" sz="1200" b="0" i="0" u="none" strike="noStrike" kern="1200" cap="none" baseline="0" dirty="0">
                <a:solidFill>
                  <a:schemeClr val="tx1"/>
                </a:solidFill>
                <a:latin typeface="Times New Roman" pitchFamily="-110" charset="0"/>
                <a:ea typeface="Arial"/>
                <a:cs typeface="Arial"/>
                <a:sym typeface="Arial"/>
              </a:rPr>
              <a:t>1982:  specification of an Internet mail format. RFC 822 defines a simple header with To, From, Subject, and other fields that can be used to route an e-mail message through the Internet and that provides basic information about the e-mail content. RFC 822 assumes a simple ASCII text format for the content.</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MIME provides a number of new header fields that define information about the body of the message, including the format of the body and any encoding that is done to facilitate transfer. Most important, MIME defines a number of content formats, which standardize representations for the support of multimedia e-mail. Examples include text, image, audio, and video.</a:t>
            </a:r>
            <a:endParaRPr lang="en-US" dirty="0"/>
          </a:p>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80663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tx1"/>
                </a:solidFill>
                <a:effectLst/>
                <a:latin typeface="Times New Roman" pitchFamily="-110" charset="0"/>
                <a:ea typeface="Arial"/>
                <a:cs typeface="Arial"/>
                <a:sym typeface="Arial"/>
              </a:rPr>
              <a:t>S/MIME functionality is built into the majority of modern e-mail software and</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interoperates between them. S/MIME is defined as a set of additional MIME content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types (see Table 22.1) and provides the ability to sign and/or encrypt e-mail messages.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7898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tx1"/>
                </a:solidFill>
                <a:effectLst/>
                <a:latin typeface="Times New Roman" pitchFamily="-110" charset="0"/>
                <a:ea typeface="Arial"/>
                <a:cs typeface="Arial"/>
                <a:sym typeface="Arial"/>
              </a:rPr>
              <a:t>In essence, these content types support four new functions:</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Enveloped data: </a:t>
            </a:r>
            <a:r>
              <a:rPr lang="en-US" sz="1200" b="0" i="0" u="none" strike="noStrike" kern="1200" cap="none" baseline="0" dirty="0">
                <a:solidFill>
                  <a:schemeClr val="tx1"/>
                </a:solidFill>
                <a:latin typeface="Times New Roman" pitchFamily="-110" charset="0"/>
                <a:ea typeface="Arial"/>
                <a:cs typeface="Arial"/>
                <a:sym typeface="Arial"/>
              </a:rPr>
              <a:t>This function consists of encrypted content of any type and encrypted-content encryption keys for one or more recipients.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Signed data:</a:t>
            </a:r>
            <a:r>
              <a:rPr lang="en-US" sz="1200" b="0" i="0" u="none" strike="noStrike" kern="1200" cap="none" baseline="0" dirty="0">
                <a:solidFill>
                  <a:schemeClr val="tx1"/>
                </a:solidFill>
                <a:latin typeface="Times New Roman" pitchFamily="-110" charset="0"/>
                <a:ea typeface="Arial"/>
                <a:cs typeface="Arial"/>
                <a:sym typeface="Arial"/>
              </a:rPr>
              <a:t> A digital signature is formed by taking the message digest of the content to be signed and then encrypting that with the private key of the signer. The content plus signature are then encoded using base64 encoding. A signed data message can only be viewed by a recipient with S/MIME capability.</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Clear-signed data: </a:t>
            </a:r>
            <a:r>
              <a:rPr lang="en-US" sz="1200" b="0" i="0" u="none" strike="noStrike" kern="1200" cap="none" baseline="0" dirty="0">
                <a:solidFill>
                  <a:schemeClr val="tx1"/>
                </a:solidFill>
                <a:latin typeface="Times New Roman" pitchFamily="-110" charset="0"/>
                <a:ea typeface="Arial"/>
                <a:cs typeface="Arial"/>
                <a:sym typeface="Arial"/>
              </a:rPr>
              <a:t>As with signed data, a digital signature of the content is formed. However, in this case, only the digital signature is encoded using base64. As a result, recipients without S/MIME capability can view the message content, although they cannot verify the signature.</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Signed and enveloped data: </a:t>
            </a:r>
            <a:r>
              <a:rPr lang="en-US" sz="1200" b="0" i="0" u="none" strike="noStrike" kern="1200" cap="none" baseline="0" dirty="0">
                <a:solidFill>
                  <a:schemeClr val="tx1"/>
                </a:solidFill>
                <a:latin typeface="Times New Roman" pitchFamily="-110" charset="0"/>
                <a:ea typeface="Arial"/>
                <a:cs typeface="Arial"/>
                <a:sym typeface="Arial"/>
              </a:rPr>
              <a:t>Signed-only and encrypted-only entities may be nested, so that encrypted data may be signed and signed data or clear-signed data may be encrypted.</a:t>
            </a:r>
            <a:endParaRPr lang="en-US" b="0" dirty="0"/>
          </a:p>
          <a:p>
            <a:endParaRPr lang="en-US" dirty="0"/>
          </a:p>
          <a:p>
            <a:endParaRPr lang="en-US" b="0" dirty="0">
              <a:latin typeface="Times" pitchFamily="-110" charset="0"/>
            </a:endParaRPr>
          </a:p>
          <a:p>
            <a:endParaRPr lang="en-US" b="0"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7612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cap="none" dirty="0">
                <a:solidFill>
                  <a:schemeClr val="tx1"/>
                </a:solidFill>
                <a:effectLst/>
                <a:latin typeface="Times New Roman" pitchFamily="-110" charset="0"/>
                <a:ea typeface="Arial"/>
                <a:cs typeface="Arial"/>
                <a:sym typeface="Arial"/>
              </a:rPr>
              <a:t> Figure 22.1 provides a general overview of S/MIME functional flow.</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cap="none" dirty="0">
                <a:solidFill>
                  <a:schemeClr val="tx1"/>
                </a:solidFill>
                <a:effectLst/>
                <a:latin typeface="Times New Roman" pitchFamily="-110" charset="0"/>
                <a:ea typeface="Arial"/>
                <a:cs typeface="Arial"/>
                <a:sym typeface="Arial"/>
              </a:rPr>
              <a:t>
Illustration a labeled, sender signs, and then encrypts message is as follows. The message is fed to the sign, for example, R S A slash S H A 256 along with the sender’s private key. The message and the sign are then combined and encrypted along with the one time secret key, for example, A E S 128 slash C B C. The one time secret key and the receiver’s public key are then encrypted, for example, R S A. The encrypted R S A and the encrypted A E S 128 slash C B C are then combined to form the encrypted message, along with the key and sign. Illustration b labeled, receiver decrypts the message and then verifies sender’s signature is as follows. The encrypted message, along with the key and sign and the receiver’s private key is fed to the decrypt, for example, R S A. The decrypt, R S A message and the sender key generated by the sender are fed to the decrypt, for example, A E S 128 slash C B C. The encrypted message is also fed to the decrypt, A E S 128 slash C B C. The decrypted message along with the sender’s public key is used to verify the signature, for example, R S A slash S H A 256.</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53906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tx1"/>
                </a:solidFill>
                <a:effectLst/>
                <a:latin typeface="Times New Roman" pitchFamily="-110" charset="0"/>
                <a:ea typeface="Arial"/>
                <a:cs typeface="Arial"/>
                <a:sym typeface="Arial"/>
              </a:rPr>
              <a:t>The preferred algorithms used for signing</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S/MIME messages use either an RSA or a Digital Signature Algorithm (DSA) signature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of an SHA-256 message hash. The process works as follows. Take the message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you want to send and map it into a fixed-length code of 256 bits, using SHA-256.</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The 256-bit message digest is, for all practical purposes, unique for this message.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It would be virtually impossible for someone to alter this message or substitute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another message and still come up with the same digest. Then, S/MIME encrypts the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digest using RSA and the sender’s private RSA key. The result is the digital signature,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which is attached to the message, as we discuss in Chapter 2. Now, anyone who gets</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this message can recompute the message digest then decrypt the signature using RSA</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and the sender’s public RSA key. If the message digest in the signature matches the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message digest that was calculated, then the signature is valid. Since this operation</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only involves encrypting and decrypting a 256-bit block, it takes up little time. The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DSA can be used instead of RSA as the signature algorithm.</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The signature is a binary string, and sending it in that form through the Internet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e-mail system could result in unintended alteration of the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contents, because some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e-mail software will attempt to interpret the message content looking for control</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characters such as line feeds. To protect the data, either the signature alone or the signature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plus the message are mapped into printable ASCII characters using a scheme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known as radix-64 or base64 mapping. Radix-64 maps each input group of three octets</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of binary data into four ASCII characters (see Appendix G).</a:t>
            </a: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76110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tx1"/>
                </a:solidFill>
                <a:effectLst/>
                <a:latin typeface="Times New Roman" pitchFamily="-110" charset="0"/>
                <a:ea typeface="Arial"/>
                <a:cs typeface="Arial"/>
                <a:sym typeface="Arial"/>
              </a:rPr>
              <a:t>The default algorithms used for encrypting S/MIME messages are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AES and RSA. To begin, S/MIME generates a pseudorandom secret key; this is used to</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encrypt the message using AES or some other conventional encryption scheme, such as</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3DES. In any conventional encryption application, the problem of key distribution must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be addressed. In S/MIME, each conventional key is used only once. That is, a new pseudorandom</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key is generated for each new message encryption. This session key is bound</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to the message and transmitted with it. The secret key is used as input to the public-key</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encryption algorithm, RSA, which encrypts the key with the recipient’s public RSA key.</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On the receiving end, S/MIME uses the receiver’s private RSA key to recover the secret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key, then uses the secret key and AES to recover the plaintext message.</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If encryption is used alone, radix-64 is used to convert the ciphertext to ASCII</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format.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14456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DomainKeys Identified Mail (DKIM) is a specification for cryptographically signing e-mail messages, permitting a signing domain to claim responsibility for a message in the mail stream. Message recipients (or agents acting in their behalf) can verify the signature by querying the signer’s domain directly to retrieve the appropriate public key and thereby can confirm that the message was attested to by a party in possession of the private key for the signing domain. DKIM is specified in Internet Standard RFC 4871: (</a:t>
            </a:r>
            <a:r>
              <a:rPr lang="en-US" sz="1200" b="0" i="1" u="none" strike="noStrike" kern="1200" cap="none" baseline="0" dirty="0">
                <a:solidFill>
                  <a:schemeClr val="tx1"/>
                </a:solidFill>
                <a:latin typeface="Times New Roman" pitchFamily="-110" charset="0"/>
                <a:ea typeface="Arial"/>
                <a:cs typeface="Arial"/>
                <a:sym typeface="Arial"/>
              </a:rPr>
              <a:t>DomainKeys Identified Mail (DKIM) Signatures ). DKIM has </a:t>
            </a:r>
            <a:r>
              <a:rPr lang="en-US" sz="1200" b="0" i="0" u="none" strike="noStrike" kern="1200" cap="none" baseline="0" dirty="0">
                <a:solidFill>
                  <a:schemeClr val="tx1"/>
                </a:solidFill>
                <a:latin typeface="Times New Roman" pitchFamily="-110" charset="0"/>
                <a:ea typeface="Arial"/>
                <a:cs typeface="Arial"/>
                <a:sym typeface="Arial"/>
              </a:rPr>
              <a:t>been widely adopted by a range of e-mail providers, including corporations, government agencies, Gmail, yahoo, and many Internet service providers (ISPs).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To understand the operation of DKIM, it is useful to have a basic grasp of the Internet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mail architecture, which is currently defined in RFC 5598 (Internet Mail Architecture ,</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2009). This subsection provides an overview of the basic concepts.</a:t>
            </a:r>
            <a:endParaRPr lang="en-US" sz="1200" b="0" i="0" u="none" strike="noStrike" kern="1200" cap="none" baseline="0" dirty="0">
              <a:solidFill>
                <a:schemeClr val="tx1"/>
              </a:solidFill>
              <a:latin typeface="Times New Roman" pitchFamily="-110" charset="0"/>
              <a:ea typeface="Arial"/>
              <a:cs typeface="Arial"/>
              <a:sym typeface="Arial"/>
            </a:endParaRP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At its most fundamental level, the Internet mail architecture consists of a user world in the form of Message User Agents (MUA), and the transfer world, in the form of the Message Handling Service (MHS), which is composed of Message Transfer Agents (MTA). The MHS accepts a message from one user and delivers it to one or more other users, creating a virtual MUA-to-MUA exchange environment. This architecture involves three types of interoperability. One is directly between users: messages must be formatted by the MUA on behalf of the message author so that the message can be displayed to the message recipient by the destination MUA. There are also interoperability requirements between the MUA and the MHS—first when a message is posted from an MUA to the MHS and later when it is delivered from the MHS to the destination MUA. Interoperability is required among the MTA components along the transfer path through the MHS.</a:t>
            </a:r>
            <a:endParaRPr lang="en-US" dirty="0"/>
          </a:p>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93364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Figure 22.2 illustrates the key components of the Internet mail architecture, which include the following.</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Message user agent (MUA): </a:t>
            </a:r>
            <a:r>
              <a:rPr lang="en-US" sz="1200" b="0" i="0" u="none" strike="noStrike" kern="1200" cap="none" baseline="0" dirty="0">
                <a:solidFill>
                  <a:schemeClr val="tx1"/>
                </a:solidFill>
                <a:latin typeface="Times New Roman" pitchFamily="-110" charset="0"/>
                <a:ea typeface="Arial"/>
                <a:cs typeface="Arial"/>
                <a:sym typeface="Arial"/>
              </a:rPr>
              <a:t>Works on behalf of user actors and user applications. It is their representative within the e-mail service. Typically, this function is housed in the user’s computer and is referred to as a client e-mail program or a local network e-mail server. The author MUA formats a message and performs initial submission into the MHS via a MSA. The recipient MUA processes received mail for storage and/or display to the recipient user.</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Mail submission agent (MSA): </a:t>
            </a:r>
            <a:r>
              <a:rPr lang="en-US" sz="1200" b="0" i="0" u="none" strike="noStrike" kern="1200" cap="none" baseline="0" dirty="0">
                <a:solidFill>
                  <a:schemeClr val="tx1"/>
                </a:solidFill>
                <a:latin typeface="Times New Roman" pitchFamily="-110" charset="0"/>
                <a:ea typeface="Arial"/>
                <a:cs typeface="Arial"/>
                <a:sym typeface="Arial"/>
              </a:rPr>
              <a:t>Accepts the message submitted by an MUA and enforces the policies of the hosting domain and the requirements of Internet standards. This function may be located together with the MUA or as a separate functional model. In the latter case, the Simple Mail Transfer Protocol (SMTP) is used between the MUA and the MSA.</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Message transfer agent (MTA): </a:t>
            </a:r>
            <a:r>
              <a:rPr lang="en-US" sz="1200" b="0" i="0" u="none" strike="noStrike" kern="1200" cap="none" baseline="0" dirty="0">
                <a:solidFill>
                  <a:schemeClr val="tx1"/>
                </a:solidFill>
                <a:latin typeface="Times New Roman" pitchFamily="-110" charset="0"/>
                <a:ea typeface="Arial"/>
                <a:cs typeface="Arial"/>
                <a:sym typeface="Arial"/>
              </a:rPr>
              <a:t>Relays mail for one application-level hop. It is like a packet switch or IP router in that its job is to make routing assessments and to move the message closer to the recipients. Relaying is performed by a sequence of MTAs until the message reaches a destination MDA. An MTA also adds trace information to the message header. SMTP is used between MTAs and between an MTA and an MSA or MDA.</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Mail delivery agent (MDA): </a:t>
            </a:r>
            <a:r>
              <a:rPr lang="en-US" sz="1200" b="0" i="0" u="none" strike="noStrike" kern="1200" cap="none" baseline="0" dirty="0">
                <a:solidFill>
                  <a:schemeClr val="tx1"/>
                </a:solidFill>
                <a:latin typeface="Times New Roman" pitchFamily="-110" charset="0"/>
                <a:ea typeface="Arial"/>
                <a:cs typeface="Arial"/>
                <a:sym typeface="Arial"/>
              </a:rPr>
              <a:t>Responsible for transferring the message from the MHS to the MS.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Message store (MS): </a:t>
            </a:r>
            <a:r>
              <a:rPr lang="en-US" sz="1200" b="0" i="0" u="none" strike="noStrike" kern="1200" cap="none" baseline="0" dirty="0">
                <a:solidFill>
                  <a:schemeClr val="tx1"/>
                </a:solidFill>
                <a:latin typeface="Times New Roman" pitchFamily="-110" charset="0"/>
                <a:ea typeface="Arial"/>
                <a:cs typeface="Arial"/>
                <a:sym typeface="Arial"/>
              </a:rPr>
              <a:t>An MUA can employ a long-term MS. An MS can be located on a remote server or on the same machine as the MUA. Typically, an MUA retrieves messages from a remote server using POP (Post Office Protocol) or IMAP (Internet Message Access Protocol).</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Two other concepts need to be defined. An </a:t>
            </a:r>
            <a:r>
              <a:rPr lang="en-US" sz="1200" b="1" i="0" u="none" strike="noStrike" kern="1200" cap="none" baseline="0" dirty="0">
                <a:solidFill>
                  <a:schemeClr val="tx1"/>
                </a:solidFill>
                <a:latin typeface="Times New Roman" pitchFamily="-110" charset="0"/>
                <a:ea typeface="Arial"/>
                <a:cs typeface="Arial"/>
                <a:sym typeface="Arial"/>
              </a:rPr>
              <a:t>administrative management domain (ADMD) </a:t>
            </a:r>
            <a:r>
              <a:rPr lang="en-US" sz="1200" b="0" i="0" u="none" strike="noStrike" kern="1200" cap="none" baseline="0" dirty="0">
                <a:solidFill>
                  <a:schemeClr val="tx1"/>
                </a:solidFill>
                <a:latin typeface="Times New Roman" pitchFamily="-110" charset="0"/>
                <a:ea typeface="Arial"/>
                <a:cs typeface="Arial"/>
                <a:sym typeface="Arial"/>
              </a:rPr>
              <a:t>is an Internet e-mail provider. Examples include a department that operates a local mail relay (MTA), an IT department that operates an enterprise mail relay, and an ISP that operates a public shared e-mail service. Each ADMD can have different operating policies and trust-based decision making. One obvious example is the distinction between mail that is exchanged within an organization and mail that is exchanged between independent organizations. The rules for handling the two types of traffic tend to be quite different.</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a:t>
            </a:r>
            <a:r>
              <a:rPr lang="en-US" sz="1200" b="1" i="0" u="none" strike="noStrike" kern="1200" cap="none" baseline="0" dirty="0">
                <a:solidFill>
                  <a:schemeClr val="tx1"/>
                </a:solidFill>
                <a:latin typeface="Times New Roman" pitchFamily="-110" charset="0"/>
                <a:ea typeface="Arial"/>
                <a:cs typeface="Arial"/>
                <a:sym typeface="Arial"/>
              </a:rPr>
              <a:t>Domain name system (DNS) </a:t>
            </a:r>
            <a:r>
              <a:rPr lang="en-US" sz="1200" b="0" i="0" u="none" strike="noStrike" kern="1200" cap="none" baseline="0" dirty="0">
                <a:solidFill>
                  <a:schemeClr val="tx1"/>
                </a:solidFill>
                <a:latin typeface="Times New Roman" pitchFamily="-110" charset="0"/>
                <a:ea typeface="Arial"/>
                <a:cs typeface="Arial"/>
                <a:sym typeface="Arial"/>
              </a:rPr>
              <a:t>is a directory lookup service that provides a mapping between the name of a host on the Internet and its numerical address.
The illustration is as follows. The Message author is the Message user agent, M U A. The M U A sends E S M T P submission to Mail submission agent, M S A. Message Submission agent, M S A, sends S M T P to the Message transfer agent, M T A. The M T A then sends S M T P to another M T A. Another S M T P is sent to a third M T A. This M T A then sends S M T P local to Mail delivery agent, M D A. The M D A then sends E S M T P submission to the Message Store, M S. The M S then sends I M A P, P O P, local to the Message User Agent, M U A, in this case, the message recipient. The M S A, M T As, and M D A are together labeled, MESSAGE HANDLING SYSTEM, M H 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00866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Figure 22.3 is a simple example of the operation of DKIM. We begin with a message generated by a user and transmitted into the MHS to an MSA that is within the user’s administrative domain. An e-mail message is generated by an e-mail client program. The content of the message, plus selected RFC 5322 headers, is signed by the e-mail provider using the provider’s private key. The signer is associated with a domain, which could be a corporate local network, an ISP, or a public e-mail facility such as Gmail. The signed message then passes through the Internet via a sequence of MTAs. At the destination, the MDA retrieves the public key for the incoming signature and verifies the signature before passing the message on to the destination e-mail client. The default signing algorithm is RSA with SHA-256. RSA with SHA-1 also may be used.
The illustration is as follows. The mail origination network is the Message user agent, M U A. The M U A sends S M T P to the signer, Mail submission agent, M S A. The M S A sends S M T P to the Message transfer agent, M T A. The M T A then sends S M T P to another M T A. This M T A then sends S M T P to verifier, Mail delivery agent, M D A. The Domain Name System, D N S sends D N S Public Key query slash response to the M D A. The M D A then sends P O P, I M A P, to the Message User Agent, M U A, in this case, the message delivery network.</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28721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 One of the most widely used security services is the Secure Sockets Layer (SSL) and the follow-on</a:t>
            </a:r>
            <a:r>
              <a:rPr lang="en-US" sz="1200" b="0" i="0" u="none" strike="noStrike" kern="1200" cap="none" dirty="0">
                <a:solidFill>
                  <a:schemeClr val="tx1"/>
                </a:solidFill>
                <a:effectLst/>
                <a:latin typeface="Times New Roman" pitchFamily="-110" charset="0"/>
                <a:ea typeface="Arial"/>
                <a:cs typeface="Arial"/>
                <a:sym typeface="Arial"/>
              </a:rPr>
              <a:t> Internet standard RFC 4346 (The Transport Layer Security (TLS) Protocol</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Version 1.1 , 2006).</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baseline="0" dirty="0">
                <a:solidFill>
                  <a:schemeClr val="tx1"/>
                </a:solidFill>
                <a:latin typeface="Times New Roman" pitchFamily="-110" charset="0"/>
                <a:ea typeface="Arial"/>
                <a:cs typeface="Arial"/>
                <a:sym typeface="Arial"/>
              </a:rPr>
              <a:t>TLS has largely supplanted earlier SSL implementations. TLS is a general-purpose service implemented as a set of protocols that rely on TCP. At this level, there are two implementation choices. For full generality, TLS could be provided as part of the underlying protocol suite and therefore be transparent to applications. Alternatively, TLS can be embedded in specific packages. For example, most browsers come equipped with SSL, and most Web servers have implemented the protocol.</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390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 TLS is designed to make use of TCP to provide a reliable end-to-end secure service. TLS is not a single protocol but rather two layers of protocols, as illustrated in Figure 22.4.</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The Record Protocol provides basic security services to various higher-layer protocols. In particular, the Hypertext Transfer Protocol (HTTP), which provides the transfer service for Web client/server interaction, can operate on top of TLS. Three higher-layer protocols are defined as part of TLS: the Handshake Protocol, the Change Cipher Spec Protocol, and the Alert Protocol. These TLS-specific protocols are used in the management of TLS exchanges, and are examined later in this section.</a:t>
            </a:r>
          </a:p>
          <a:p>
            <a:r>
              <a:rPr lang="en-US" sz="1200" b="0" i="0" u="none" strike="noStrike" kern="1200" cap="none" baseline="0" dirty="0">
                <a:solidFill>
                  <a:schemeClr val="tx1"/>
                </a:solidFill>
                <a:latin typeface="Times New Roman" pitchFamily="-110" charset="0"/>
                <a:ea typeface="Arial"/>
                <a:cs typeface="Arial"/>
                <a:sym typeface="Arial"/>
              </a:rPr>
              <a:t>
The illustration has 4 layers. The first layer has 5 sections namely, handshake protocol, Change Cipher S p e c Protocol, Alert Protocol, H T T P. The last three layers from top to bottom are as follows. Record Protocol. T C P, I P.</a:t>
            </a:r>
            <a:endParaRPr lang="en-AU"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31065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110" charset="0"/>
                <a:ea typeface="+mn-ea"/>
                <a:cs typeface="+mn-cs"/>
              </a:rPr>
              <a:t>Two important TLS concepts are the TLS session and the TLS connection, which are defined in the specification as follows:</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 Connection : A connection is a transport (in the OSI layering model definition) that provides a suitable type of service. For TLS, such connections are peer-to- peer relationships. The connections are transient. Every connection is associated with one session.</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 Session : A TLS session is an association between a client and a server. Sessions are created by the Handshake Protocol. Sessions define a set of cryptographic security parameters, which can be shared among multiple connections. Sessions are used to avoid the expensive negotiation of new security parameters for each connection.</a:t>
            </a:r>
          </a:p>
          <a:p>
            <a:endParaRPr lang="en-US" sz="1200" b="0" i="0" u="none" strike="noStrike" kern="1200" baseline="0" dirty="0">
              <a:solidFill>
                <a:schemeClr val="tx1"/>
              </a:solidFill>
              <a:latin typeface="Times New Roman" pitchFamily="-110" charset="0"/>
              <a:ea typeface="+mn-ea"/>
              <a:cs typeface="+mn-cs"/>
            </a:endParaRPr>
          </a:p>
          <a:p>
            <a:r>
              <a:rPr lang="en-US" sz="1200" b="0" i="0" u="none" strike="noStrike" kern="1200" baseline="0" dirty="0">
                <a:solidFill>
                  <a:schemeClr val="tx1"/>
                </a:solidFill>
                <a:latin typeface="Times New Roman" pitchFamily="-110" charset="0"/>
                <a:ea typeface="+mn-ea"/>
                <a:cs typeface="+mn-cs"/>
              </a:rPr>
              <a:t>Between any pair of parties (applications such as HTTP on client and server), there may be multiple secure connections. In theory, there may also be multiple simultaneous sessions between parties, but this feature is not used in practice.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7964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The SSL Record Protocol provides two services for SSL connections: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Confidentiality:</a:t>
            </a:r>
            <a:r>
              <a:rPr lang="en-US" sz="1200" b="0" i="0" u="none" strike="noStrike" kern="1200" cap="none" baseline="0" dirty="0">
                <a:solidFill>
                  <a:schemeClr val="tx1"/>
                </a:solidFill>
                <a:latin typeface="Times New Roman" pitchFamily="-110" charset="0"/>
                <a:ea typeface="Arial"/>
                <a:cs typeface="Arial"/>
                <a:sym typeface="Arial"/>
              </a:rPr>
              <a:t> The Handshake Protocol defines a shared secret key that is used for symmetric encryption of SSL payloads.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Message integrity: </a:t>
            </a:r>
            <a:r>
              <a:rPr lang="en-US" sz="1200" b="0" i="0" u="none" strike="noStrike" kern="1200" cap="none" baseline="0" dirty="0">
                <a:solidFill>
                  <a:schemeClr val="tx1"/>
                </a:solidFill>
                <a:latin typeface="Times New Roman" pitchFamily="-110" charset="0"/>
                <a:ea typeface="Arial"/>
                <a:cs typeface="Arial"/>
                <a:sym typeface="Arial"/>
              </a:rPr>
              <a:t>The Handshake Protocol also defines a shared secret key that is used to form a message authentication code (MAC).</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Figure 22.5 indicates the overall operation of the SSL Record Protocol. The first step is fragmentation . Each upper-layer message is fragmented into blocks of 214 bytes (16,384 bytes) or less. Next, compression is optionally applied. The next step in processing is to compute a message authentication code over the compressed data. Next, the compressed message plus the MAC are encrypted using symmetric encryption.</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final step of SSL Record Protocol processing is to prepend a header,  which includes version and length fields.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content types that have been defined are change_cipher_spec, alert, handshake, and application_data. The first three are the TLS-specific protocols, discussed next. Note that no distinction is made among the various applications (e.g., HTTP) that might use TLS; the content of the data created by such applications is opaque to TLS.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Record Protocol then transmits the resulting unit in a TCP segment. Received data are decrypted, verified, decompressed, and reassembled, and then delivered to higher-level users.</a:t>
            </a:r>
          </a:p>
          <a:p>
            <a:r>
              <a:rPr lang="en-US" sz="1200" b="0" i="0" u="none" strike="noStrike" kern="1200" cap="none" baseline="0" dirty="0">
                <a:solidFill>
                  <a:schemeClr val="tx1"/>
                </a:solidFill>
                <a:latin typeface="Times New Roman" pitchFamily="-110" charset="0"/>
                <a:ea typeface="Arial"/>
                <a:cs typeface="Arial"/>
                <a:sym typeface="Arial"/>
              </a:rPr>
              <a:t>
The Protocol is as follows. The application data layer is at the top. The Application data is then split into three Fragments. Each fragment is then compressed and a M A C layer is then added in the net step. It is then encrypted to form the prepend T L S record header.</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84130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The Change Cipher Spec Protocol is one of the four TLS-specific protocols that use the TLS Record Protocol, and it is the simplest. This protocol consists of a single message, which consists of a single byte with the value 1. The sole purpose of this message is to cause the pending state to be copied into the current state, which updates the cipher suite to be used on this connection.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79854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The Alert Protocol is used to convey TLS-related alerts to the peer entity. As with other applications that use TLS, alert messages are compressed and encrypted, as specified by the current state.</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Each message in this protocol consists of two bytes. The first byte takes the value warning(1) or fatal(2) to convey the severity of the message. If the level is fatal, TLS immediately terminates the connection. Other connections on the same session may continue, but no new connections on this session may be established. The second byte contains a code that indicates the specific alert. An example of a fatal alert is an incorrect MAC. An example of a nonfatal alert is a close_notify message, which notifies the recipient that the sender will not send any more messages on this connection.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41632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The most complex part of TLS is the Handshake Protocol. This protocol allows the server and client to authenticate each other and to negotiate an encryption and MAC algorithm and cryptographic keys to be used to protect data sent in an TLS record. The Handshake Protocol is used before any application data are transmitted.</a:t>
            </a:r>
          </a:p>
          <a:p>
            <a:endParaRPr lang="en-US" sz="1200" b="0" i="0" u="none" strike="noStrike" kern="1200" cap="none" baseline="0" dirty="0">
              <a:solidFill>
                <a:schemeClr val="tx1"/>
              </a:solidFill>
              <a:latin typeface="Times New Roman" pitchFamily="-110" charset="0"/>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8548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Times New Roman" pitchFamily="-110" charset="0"/>
                <a:ea typeface="+mn-ea"/>
                <a:cs typeface="+mn-cs"/>
              </a:rPr>
              <a:t>The Handshake Protocol consists of a series of messages exchanged by client and server. Figure 22.6 shows the initial exchange needed to establish a logical connection between client and server. The exchange can be viewed as having four phases.</a:t>
            </a:r>
          </a:p>
          <a:p>
            <a:endParaRPr lang="en-US" sz="120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Phase 1 </a:t>
            </a:r>
            <a:r>
              <a:rPr lang="en-US" sz="1200" b="0" kern="1200" baseline="0" dirty="0">
                <a:solidFill>
                  <a:schemeClr val="tx1"/>
                </a:solidFill>
                <a:latin typeface="Times New Roman" pitchFamily="-110" charset="0"/>
                <a:ea typeface="+mn-ea"/>
                <a:cs typeface="+mn-cs"/>
              </a:rPr>
              <a:t>is used to initiate a logical connection and to establish the security </a:t>
            </a:r>
            <a:r>
              <a:rPr lang="en-US" sz="1200" kern="1200" baseline="0" dirty="0">
                <a:solidFill>
                  <a:schemeClr val="tx1"/>
                </a:solidFill>
                <a:latin typeface="Times New Roman" pitchFamily="-110" charset="0"/>
                <a:ea typeface="+mn-ea"/>
                <a:cs typeface="+mn-cs"/>
              </a:rPr>
              <a:t>capabilities that will be associated with it. The exchange is initiated by the client, which sends a client_hello message with the following parameters: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Version: </a:t>
            </a:r>
            <a:r>
              <a:rPr lang="en-US" sz="1200" b="0" kern="1200" baseline="0" dirty="0">
                <a:solidFill>
                  <a:schemeClr val="tx1"/>
                </a:solidFill>
                <a:latin typeface="Times New Roman" pitchFamily="-110" charset="0"/>
                <a:ea typeface="+mn-ea"/>
                <a:cs typeface="+mn-cs"/>
              </a:rPr>
              <a:t>The highest SSL version understood by the client.</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Random: </a:t>
            </a:r>
            <a:r>
              <a:rPr lang="en-US" sz="1200" b="0" kern="1200" baseline="0" dirty="0">
                <a:solidFill>
                  <a:schemeClr val="tx1"/>
                </a:solidFill>
                <a:latin typeface="Times New Roman" pitchFamily="-110" charset="0"/>
                <a:ea typeface="+mn-ea"/>
                <a:cs typeface="+mn-cs"/>
              </a:rPr>
              <a:t>A client-generated random structure, consisting of a 32-bit timestamp</a:t>
            </a:r>
          </a:p>
          <a:p>
            <a:r>
              <a:rPr lang="en-US" sz="1200" kern="1200" baseline="0" dirty="0">
                <a:solidFill>
                  <a:schemeClr val="tx1"/>
                </a:solidFill>
                <a:latin typeface="Times New Roman" pitchFamily="-110" charset="0"/>
                <a:ea typeface="+mn-ea"/>
                <a:cs typeface="+mn-cs"/>
              </a:rPr>
              <a:t>and 28 bytes generated by a secure random number generator. These</a:t>
            </a:r>
          </a:p>
          <a:p>
            <a:r>
              <a:rPr lang="en-US" sz="1200" kern="1200" baseline="0" dirty="0">
                <a:solidFill>
                  <a:schemeClr val="tx1"/>
                </a:solidFill>
                <a:latin typeface="Times New Roman" pitchFamily="-110" charset="0"/>
                <a:ea typeface="+mn-ea"/>
                <a:cs typeface="+mn-cs"/>
              </a:rPr>
              <a:t>values are used during key exchange to prevent replay attacks.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Session ID: </a:t>
            </a:r>
            <a:r>
              <a:rPr lang="en-US" sz="1200" b="0" kern="1200" baseline="0" dirty="0">
                <a:solidFill>
                  <a:schemeClr val="tx1"/>
                </a:solidFill>
                <a:latin typeface="Times New Roman" pitchFamily="-110" charset="0"/>
                <a:ea typeface="+mn-ea"/>
                <a:cs typeface="+mn-cs"/>
              </a:rPr>
              <a:t>A variable-length session identifier. A nonzero value indicates </a:t>
            </a:r>
            <a:r>
              <a:rPr lang="en-US" sz="1200" kern="1200" baseline="0" dirty="0">
                <a:solidFill>
                  <a:schemeClr val="tx1"/>
                </a:solidFill>
                <a:latin typeface="Times New Roman" pitchFamily="-110" charset="0"/>
                <a:ea typeface="+mn-ea"/>
                <a:cs typeface="+mn-cs"/>
              </a:rPr>
              <a:t>that the client wishes to update the parameters of an existing connection or create a new connection on this session. A zero value indicates that the client wishes to establish a new connection on a new session.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CipherSuite: </a:t>
            </a:r>
            <a:r>
              <a:rPr lang="en-US" sz="1200" b="0" kern="1200" baseline="0" dirty="0">
                <a:solidFill>
                  <a:schemeClr val="tx1"/>
                </a:solidFill>
                <a:latin typeface="Times New Roman" pitchFamily="-110" charset="0"/>
                <a:ea typeface="+mn-ea"/>
                <a:cs typeface="+mn-cs"/>
              </a:rPr>
              <a:t>This is a list that contains the combinations of cryptographic </a:t>
            </a:r>
            <a:r>
              <a:rPr lang="en-US" sz="1200" kern="1200" baseline="0" dirty="0">
                <a:solidFill>
                  <a:schemeClr val="tx1"/>
                </a:solidFill>
                <a:latin typeface="Times New Roman" pitchFamily="-110" charset="0"/>
                <a:ea typeface="+mn-ea"/>
                <a:cs typeface="+mn-cs"/>
              </a:rPr>
              <a:t>algorithms supported by the client, in decreasing order of preference. Each element of the list (each cipher suite) defines both a key exchange algorithm and a CipherSpec.</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Compression method: </a:t>
            </a:r>
            <a:r>
              <a:rPr lang="en-US" sz="1200" b="0" kern="1200" baseline="0" dirty="0">
                <a:solidFill>
                  <a:schemeClr val="tx1"/>
                </a:solidFill>
                <a:latin typeface="Times New Roman" pitchFamily="-110" charset="0"/>
                <a:ea typeface="+mn-ea"/>
                <a:cs typeface="+mn-cs"/>
              </a:rPr>
              <a:t>This is a list of the compression methods the client </a:t>
            </a:r>
            <a:r>
              <a:rPr lang="en-US" sz="1200" kern="1200" baseline="0" dirty="0">
                <a:solidFill>
                  <a:schemeClr val="tx1"/>
                </a:solidFill>
                <a:latin typeface="Times New Roman" pitchFamily="-110" charset="0"/>
                <a:ea typeface="+mn-ea"/>
                <a:cs typeface="+mn-cs"/>
              </a:rPr>
              <a:t>supports.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After sending the client_hello message, the client waits for the server_hello message, which contains the same parameters as the client_hello message.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details of </a:t>
            </a:r>
            <a:r>
              <a:rPr lang="en-US" sz="1200" b="1" kern="1200" baseline="0" dirty="0">
                <a:solidFill>
                  <a:schemeClr val="tx1"/>
                </a:solidFill>
                <a:latin typeface="Times New Roman" pitchFamily="-110" charset="0"/>
                <a:ea typeface="+mn-ea"/>
                <a:cs typeface="+mn-cs"/>
              </a:rPr>
              <a:t>phase 2 </a:t>
            </a:r>
            <a:r>
              <a:rPr lang="en-US" sz="1200" b="0" kern="1200" baseline="0" dirty="0">
                <a:solidFill>
                  <a:schemeClr val="tx1"/>
                </a:solidFill>
                <a:latin typeface="Times New Roman" pitchFamily="-110" charset="0"/>
                <a:ea typeface="+mn-ea"/>
                <a:cs typeface="+mn-cs"/>
              </a:rPr>
              <a:t>depend on the underlying public-key encryption scheme </a:t>
            </a:r>
            <a:r>
              <a:rPr lang="en-US" sz="1200" kern="1200" baseline="0" dirty="0">
                <a:solidFill>
                  <a:schemeClr val="tx1"/>
                </a:solidFill>
                <a:latin typeface="Times New Roman" pitchFamily="-110" charset="0"/>
                <a:ea typeface="+mn-ea"/>
                <a:cs typeface="+mn-cs"/>
              </a:rPr>
              <a:t>that is used. In some cases, the server passes a certificate to the client, possibly additional key information, and a request for a certificate from the client.</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final message in phase 2, and one that is always required, is the server_ done message, which is sent by the server to indicate the end of the server hello and associated messages. After sending this message, the server will wait for a client response.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t>
            </a:r>
            <a:r>
              <a:rPr lang="en-US" sz="1200" b="1" kern="1200" baseline="0" dirty="0">
                <a:solidFill>
                  <a:schemeClr val="tx1"/>
                </a:solidFill>
                <a:latin typeface="Times New Roman" pitchFamily="-110" charset="0"/>
                <a:ea typeface="+mn-ea"/>
                <a:cs typeface="+mn-cs"/>
              </a:rPr>
              <a:t>phase 3 , </a:t>
            </a:r>
            <a:r>
              <a:rPr lang="en-US" sz="1200" b="0" kern="1200" baseline="0" dirty="0">
                <a:solidFill>
                  <a:schemeClr val="tx1"/>
                </a:solidFill>
                <a:latin typeface="Times New Roman" pitchFamily="-110" charset="0"/>
                <a:ea typeface="+mn-ea"/>
                <a:cs typeface="+mn-cs"/>
              </a:rPr>
              <a:t>upon receipt of the server_done message, the client should verify </a:t>
            </a:r>
            <a:r>
              <a:rPr lang="en-US" sz="1200" kern="1200" baseline="0" dirty="0">
                <a:solidFill>
                  <a:schemeClr val="tx1"/>
                </a:solidFill>
                <a:latin typeface="Times New Roman" pitchFamily="-110" charset="0"/>
                <a:ea typeface="+mn-ea"/>
                <a:cs typeface="+mn-cs"/>
              </a:rPr>
              <a:t>that the server provided a valid certificate if required and check that the server_ hello parameters are acceptable. If all is satisfactory, the client sends one or more messages back to the server, depending on the underlying public-key scheme.</a:t>
            </a:r>
          </a:p>
          <a:p>
            <a:endParaRPr lang="en-US" sz="1200" b="1"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Phase 4 </a:t>
            </a:r>
            <a:r>
              <a:rPr lang="en-US" sz="1200" b="0" kern="1200" baseline="0" dirty="0">
                <a:solidFill>
                  <a:schemeClr val="tx1"/>
                </a:solidFill>
                <a:latin typeface="Times New Roman" pitchFamily="-110" charset="0"/>
                <a:ea typeface="+mn-ea"/>
                <a:cs typeface="+mn-cs"/>
              </a:rPr>
              <a:t>completes the setting up of a secure connection. The client sends a </a:t>
            </a:r>
            <a:r>
              <a:rPr lang="en-US" sz="1200" kern="1200" baseline="0" dirty="0">
                <a:solidFill>
                  <a:schemeClr val="tx1"/>
                </a:solidFill>
                <a:latin typeface="Times New Roman" pitchFamily="-110" charset="0"/>
                <a:ea typeface="+mn-ea"/>
                <a:cs typeface="+mn-cs"/>
              </a:rPr>
              <a:t>change_cipher_spec message and copies the pending CipherSpec into the current CipherSpec. Note that this message is not considered part of the Handshake Protocol but is sent using the Change Cipher Spec Protocol. The client then immediately sends the finished message under the new algorithms, keys, and secrets. The finished message verifies that the key exchange and authentication processes were successful.</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response to these two messages, the server sends its own change_cipher_spec message, transfers the pending to the current CipherSpec, and sends its finished message. At this point, the handshake is complete and the client and server may begin to exchange application layer data.</a:t>
            </a:r>
            <a:endParaRPr lang="en-US" dirty="0"/>
          </a:p>
          <a:p>
            <a:endParaRPr lang="en-AU" dirty="0"/>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handshake between the Client and the server has four phases. In phase 1, the Client sends hello underscore server to the server and the server sends back a server underscore hello to the client. In phase 2, the Server sends the certificate, server underscore key underscore exchange, certificate underscore request, server underscore hello underscore done to the Client. In the third phase, the client sends the certificate, client underscore key underscore exchange, certificate underscore verify to the server. In phase 4, the sends change underscore cipher underscore s p e c, and finished, to the server, while the server sends change underscore cipher underscore s p e c and finished to the client. The four phases are as follows. Phase 1, Establish security capabilities, including protocol version, session I D, cipher suite, compression method, and initial random fibers. Phase 2, Server may send the certificate, key exchange, request certificate. Server signals end hello message phase. Phase 3, Client sends certificate if requested. The client sends key exchange. The client may send certificate verification. Phase 4, Change cipher suite and finish shake protocol. Note, Shaded transfers are optional or situation dependent messages that are not always sent.</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78559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In the context of computer networks, a heartbeat is a periodic signal generated by hardware or software to indicate normal operation or to synchronize other parts of a system. A Heartbeat Protocol is typically used to monitor the availability of a protocol entity. In the specific case of SSL/TLS, a Heartbeat protocol was defined in 2012 in RFC 6250 (</a:t>
            </a:r>
            <a:r>
              <a:rPr lang="en-US" sz="1200" b="0" i="1" u="none" strike="noStrike" kern="1200" cap="none" baseline="0" dirty="0">
                <a:solidFill>
                  <a:schemeClr val="tx1"/>
                </a:solidFill>
                <a:latin typeface="Times New Roman" pitchFamily="-110" charset="0"/>
                <a:ea typeface="Arial"/>
                <a:cs typeface="Arial"/>
                <a:sym typeface="Arial"/>
              </a:rPr>
              <a:t>Transport Layer Security (TLS) and Datagram Transport Layer Security (DTLS) Heartbeat Extension, </a:t>
            </a:r>
            <a:r>
              <a:rPr lang="en-US" sz="1200" b="0" i="0" u="none" strike="noStrike" kern="1200" cap="none" baseline="0" dirty="0">
                <a:solidFill>
                  <a:schemeClr val="tx1"/>
                </a:solidFill>
                <a:latin typeface="Times New Roman" pitchFamily="-110" charset="0"/>
                <a:ea typeface="Arial"/>
                <a:cs typeface="Arial"/>
                <a:sym typeface="Arial"/>
              </a:rPr>
              <a:t>2011</a:t>
            </a:r>
            <a:r>
              <a:rPr lang="en-US" sz="1200" b="0" i="1" u="none" strike="noStrike" kern="1200" cap="none" baseline="0" dirty="0">
                <a:solidFill>
                  <a:schemeClr val="tx1"/>
                </a:solidFill>
                <a:latin typeface="Times New Roman" pitchFamily="-110" charset="0"/>
                <a:ea typeface="Arial"/>
                <a:cs typeface="Arial"/>
                <a:sym typeface="Arial"/>
              </a:rPr>
              <a:t> ).</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Heartbeat Protocol runs on the top of the TLS Record Protocol and consists of two message types: heartbeat_request and heartbeat_response. The use of the Heartbeat Protocol is established during Phase 1 of the Handshake Protocol (Figure 22.6). Each peer indicates whether it supports heartbeats. If heartbeats are supported, the peer indicates whether it is willing to receive heartbeat_request messages and respond with heartbeat_response messages or only willing to send heartbeat request messages.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 heartbeat_request message can be sent at any time. Whenever a request message is received, it should be answered promptly with a corresponding heartbeat_response message. The heartbeat_request message includes payload length, payload, and padding fields. The payload is a random content between 16 bytes and 64 Kbytes in length. The corresponding heartbeat_response message must include an exact copy of the received payload. The padding is also a random content. The padding enables the sender to perform a path maximum transfer unit (MTU) discovery operation, by sending requests with increasing padding until there is no answer anymore, because one of the hosts on the path cannot handle the message.</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heartbeat serves two purposes. First, it assures the sender that the recipient is still alive, even though there may not have been any activity over the underlying TCP connection for a while. Second, the heartbeat generates activity across the connection during idle periods, which avoids closure by a firewall that does not tolerate idle connections.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requirement for the exchange of a payload was designed into the Heartbeat Protocol to support its use in a connectionless version of TLS known as DTLS. Because a connectionless service is subject to packet loss, the payload enables the requestor to match response messages to request messages. For simplicity, the same version of the Heartbeat Protocol is used with both TLS and DTLS. Thus, the payload is required for both TLS and DTLS.</a:t>
            </a:r>
            <a:endParaRPr lang="en-US" dirty="0"/>
          </a:p>
          <a:p>
            <a:endParaRPr lang="en-US" sz="1200" b="0" i="0" u="none" strike="noStrike" kern="1200" cap="none" baseline="0" dirty="0">
              <a:solidFill>
                <a:schemeClr val="tx1"/>
              </a:solidFill>
              <a:latin typeface="Times New Roman" pitchFamily="-110" charset="0"/>
              <a:ea typeface="Arial"/>
              <a:cs typeface="Arial"/>
              <a:sym typeface="Arial"/>
            </a:endParaRP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14891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 Since the first introduction of SSL in 1994, and the subsequent standardization of TLS, numerous attacks have been devised against these protocols. The appearance of each attack has necessitated changes in the protocol, the encryption tools used, or some aspects of the implementation of SSL and TLS to counter these threats.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We can group the attacks into four general categories:</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Attacks on the Handshake Protocol</a:t>
            </a:r>
            <a:r>
              <a:rPr lang="en-US" sz="1200" b="0" i="0" u="none" strike="noStrike" kern="1200" cap="none" baseline="0" dirty="0">
                <a:solidFill>
                  <a:schemeClr val="tx1"/>
                </a:solidFill>
                <a:latin typeface="Times New Roman" pitchFamily="-110" charset="0"/>
                <a:ea typeface="Arial"/>
                <a:cs typeface="Arial"/>
                <a:sym typeface="Arial"/>
              </a:rPr>
              <a:t>: As early as 1998, an approach to compromising the Handshake Protocol based on exploiting the formatting and implementation of the RSA encryption scheme was presented [BLEI98]. As countermeasures were implemented, the attack was refined and adjusted to not only thwart the countermeasures but also speed up the attack [e.g., BARD12].</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Attacks on the record and application data protocols: </a:t>
            </a:r>
            <a:r>
              <a:rPr lang="en-US" sz="1200" b="0" i="0" u="none" strike="noStrike" kern="1200" cap="none" baseline="0" dirty="0">
                <a:solidFill>
                  <a:schemeClr val="tx1"/>
                </a:solidFill>
                <a:latin typeface="Times New Roman" pitchFamily="-110" charset="0"/>
                <a:ea typeface="Arial"/>
                <a:cs typeface="Arial"/>
                <a:sym typeface="Arial"/>
              </a:rPr>
              <a:t>A number of vulnerabilities have been discovered in these protocols, leading to patches to counter the new threats. As a recent example, in 2011, researchers Thai Duong and Juliano Rizzo demonstrated a proof of concept called BEAST (Browser Exploit Against SSL/TLS) that turned what had been considered only a theoretical vulnerability into a practical attack [GOOD11]. BEAST leverages a type of cryptographic attack called a chosen-plaintext attack. The attacker mounts the attack by choosing a guess for the plaintext that is associated with a known ciphertext. The researchers developed a practical algorithm for launching successful attacks. Subsequent patches were able to thwart this attack. The authors of the BEAST attack are also the creators of the 2012 CRIME (Compression Ratio Info-leak Made Easy) attack, which can allow an attacker to recover the content of web cookies when data compression is  used along with TLS [GOOD12b]. When used to recover the content of secret authentication cookies, it allows an attacker to perform session hijacking on an authenticated web session.</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Attacks on the PKI:</a:t>
            </a:r>
            <a:r>
              <a:rPr lang="en-US" sz="1200" b="0" i="0" u="none" strike="noStrike" kern="1200" cap="none" baseline="0" dirty="0">
                <a:solidFill>
                  <a:schemeClr val="tx1"/>
                </a:solidFill>
                <a:latin typeface="Times New Roman" pitchFamily="-110" charset="0"/>
                <a:ea typeface="Arial"/>
                <a:cs typeface="Arial"/>
                <a:sym typeface="Arial"/>
              </a:rPr>
              <a:t> Checking the validity of X.509 certificates is an activity subject to a variety of attacks, both in the context of SSL/TLS and elsewhere. For example, [GEOR12] demonstrated that commonly used libraries for SSL/TLS suffer from vulnerable certificate validation implementations. The authors revealed weaknesses in the source code of OpenSSL, GnuTLS, JSSE, ApacheHttpClient, Weberknecht, cURL, PHP, Python, and applications build upon or with these products.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t>
            </a:r>
            <a:r>
              <a:rPr lang="en-US" sz="1200" b="1" i="0" u="none" strike="noStrike" kern="1200" cap="none" baseline="0" dirty="0">
                <a:solidFill>
                  <a:schemeClr val="tx1"/>
                </a:solidFill>
                <a:latin typeface="Times New Roman" pitchFamily="-110" charset="0"/>
                <a:ea typeface="Arial"/>
                <a:cs typeface="Arial"/>
                <a:sym typeface="Arial"/>
              </a:rPr>
              <a:t>Other attacks: </a:t>
            </a:r>
            <a:r>
              <a:rPr lang="en-US" sz="1200" b="0" i="0" u="none" strike="noStrike" kern="1200" cap="none" baseline="0" dirty="0">
                <a:solidFill>
                  <a:schemeClr val="tx1"/>
                </a:solidFill>
                <a:latin typeface="Times New Roman" pitchFamily="-110" charset="0"/>
                <a:ea typeface="Arial"/>
                <a:cs typeface="Arial"/>
                <a:sym typeface="Arial"/>
              </a:rPr>
              <a:t>[MEYE13] lists a number of attacks that do not fit into any of the preceding categories. One example is an attack announced in 2011 by the German hacker group The Hackers Choice, which is a DoS attack [KUMA11]. The attack creates a heavy processing load on a server by overwhelming the target with SSL/TLS handshake requests. Boosting system load is done by establishing new connections or using renegotiation. Assuming that the majority of computation during a handshake is done by the server the attack creates more system load on the server than on the source device, leading to a DoS. The server is forced to continuously recompute random numbers and keys.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history of attacks and countermeasures for SSL/TLS is representative of that for other Internet-based protocols. A “perfect” protocol and a “perfect” implementation strategy are never achieved. A constant back-and-forth between threats and countermeasures determines the evolution of Internet-based protocols.</a:t>
            </a: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1905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tx1"/>
                </a:solidFill>
                <a:effectLst/>
                <a:latin typeface="Times New Roman" pitchFamily="-110" charset="0"/>
                <a:ea typeface="Arial"/>
                <a:cs typeface="Arial"/>
                <a:sym typeface="Arial"/>
              </a:rPr>
              <a:t> A bug discovered in 2014 in the TLS software created one of the potentially most catastrophic TLS vulnerabilities. The bug was in the open-source OpenSSL implementation of the Heartbeat Protocol. It is important to note that this vulnerability is not a design flaw in the TLS specification; rather it is a programming mistake in the OpenSSL library.</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To understand the nature of the vulnerability, recall from our previous discussion that the heartbeat_request message includes payload length, payload and padding fields. Before the bug was fixed, the OpenSSL version of the Heartbeat Protocol worked as follows: The software reads the incoming request message and allocates a buffer large enough to hold the message header, the payload, and the padding. It then overwrites the current contents of the buffer with the incoming message, changes the first byte to indicate the response message type, then transmits a response message, which includes the payload length field and the payload. However, the software does not check the message length of the incoming message. As a result, an adversary can send a message that indicates the maximum payload length (64 KB) but only includes the minimum payload (16 bytes). This means that almost 64 KB of the buffer is not overwritten and whatever happened to be in memory at the time will be sent to  the requestor. Repeated attacks can result in the exposure of significant amounts of memory on the vulnerable system. Figure 22.7 illustrates the intended behavior and the actual behavior for the Heartbleed exploit.</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This is a spectacular flaw. The untouched memory could contain private keys, user identification information, authentication data, passwords, or other sensitive data. The flaw was not discovered for several years. Even though eventually the bug was fixed in all implementations, large amounts of sensitive data were exposed to the Internet. Thus, we have a long exposure period, an easily implemented attack, and an attack that leaves no trace. Full recovery from this bug could take years. Compounding the problem is that OpenSSL is the most widely used TLS implementation. Servers using OpenSSL for TLS include finance, stock trading, personal and corporate email, social networks, banking, online shopping, and government agencies. It has been estimated that over two-thirds of the Internet’s Web servers use OpenSSL, giving some idea of the scale of the problem [GOOD14].</a:t>
            </a:r>
          </a:p>
          <a:p>
            <a:r>
              <a:rPr lang="en-US" sz="1200" b="0" i="0" u="none" strike="noStrike" kern="1200" cap="none" dirty="0">
                <a:solidFill>
                  <a:schemeClr val="tx1"/>
                </a:solidFill>
                <a:effectLst/>
                <a:latin typeface="Times New Roman" pitchFamily="-110" charset="0"/>
                <a:ea typeface="Arial"/>
                <a:cs typeface="Arial"/>
                <a:sym typeface="Arial"/>
              </a:rPr>
              <a:t>
Illustration a, labeled, How T L S Heartbeat protocol Works has two panes titled, Client and Server. Icons for the Client and server are displayed. The client pane displays a cube placed inside a container. The server pane has a cube placed on a conveyor belt and a container at the end of the conveyer. The Client sends heartbeat request message to the Server. The Server extracts the payload and puts it into response message. The server sends the heartbeat response message to the client. The client has to make sure the received payload is the same. Illustration b, labeled, How T L S Heartbleed exploit Works has two panes titled, Client and Server. Icons for the Client and server are displayed. Client pane displays a smaller cube icon and an icon with larger cubes placed inside a container. Server pane has various cubes placed on a conveyor belt and a container at the end of the conveyer. The Client sends malformed heartbeat small payload disguised as a big one to the Server. The Server extracts payload and puts it into response message. The server sends the heartbeat response message to the client. The client has to make sure received payload is the same.</a:t>
            </a:r>
            <a:endParaRPr lang="en-US" sz="1200" b="0" i="0" u="none" strike="noStrike" kern="1200" cap="none" baseline="0" dirty="0">
              <a:solidFill>
                <a:schemeClr val="tx1"/>
              </a:solidFill>
              <a:latin typeface="Times New Roman" pitchFamily="-110" charset="0"/>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281481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HTTPS (HTTP over SSL) refers to the combination of HTTP and SSL to implement secure communication between a Web browser and a Web server. The HTTPS capability is built into all modern Web browsers. Its use depends on the Web server supporting HTTPS communication. </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principal difference seen by a user of a Web browser is that URL (uniform resource locator) addresses begin with https:// rather than http:// . A normal HTTP connection uses port 80. If HTTPS is specified, port 443 is used, which invokes SSL.</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When HTTPS is used, the following elements of the communication are encrypted:</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URL of the requested document</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Contents of the document</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Contents of browser forms (filled in by browser user)</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Cookies sent from browser to server and from server to browser</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Contents of HTTP header</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HTTPS is documented in RFC 2818, (</a:t>
            </a:r>
            <a:r>
              <a:rPr lang="en-US" sz="1200" b="0" i="1" u="none" strike="noStrike" kern="1200" cap="none" baseline="0" dirty="0">
                <a:solidFill>
                  <a:schemeClr val="tx1"/>
                </a:solidFill>
                <a:latin typeface="Times New Roman" pitchFamily="-110" charset="0"/>
                <a:ea typeface="Arial"/>
                <a:cs typeface="Arial"/>
                <a:sym typeface="Arial"/>
              </a:rPr>
              <a:t>HTTP Over TLS, </a:t>
            </a:r>
            <a:r>
              <a:rPr lang="en-US" sz="1200" b="0" i="0" u="none" strike="noStrike" kern="1200" cap="none" baseline="0" dirty="0">
                <a:solidFill>
                  <a:schemeClr val="tx1"/>
                </a:solidFill>
                <a:latin typeface="Times New Roman" pitchFamily="-110" charset="0"/>
                <a:ea typeface="Arial"/>
                <a:cs typeface="Arial"/>
                <a:sym typeface="Arial"/>
              </a:rPr>
              <a:t>2000</a:t>
            </a:r>
            <a:r>
              <a:rPr lang="en-US" sz="1200" b="0" i="1" u="none" strike="noStrike" kern="1200" cap="none" baseline="0" dirty="0">
                <a:solidFill>
                  <a:schemeClr val="tx1"/>
                </a:solidFill>
                <a:latin typeface="Times New Roman" pitchFamily="-110" charset="0"/>
                <a:ea typeface="Arial"/>
                <a:cs typeface="Arial"/>
                <a:sym typeface="Arial"/>
              </a:rPr>
              <a:t>) . </a:t>
            </a:r>
            <a:r>
              <a:rPr lang="en-US" sz="1200" b="0" i="0" u="none" strike="noStrike" kern="1200" cap="none" baseline="0" dirty="0">
                <a:solidFill>
                  <a:schemeClr val="tx1"/>
                </a:solidFill>
                <a:latin typeface="Times New Roman" pitchFamily="-110" charset="0"/>
                <a:ea typeface="Arial"/>
                <a:cs typeface="Arial"/>
                <a:sym typeface="Arial"/>
              </a:rPr>
              <a:t>There is no fundamental change in using HTTP over either SSL or TLS, and both implementations are referred to as HTTPS.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For HTTPS, the agent acting as the HTTP client also acts as the TLS client. The client initiates a connection to the server on the appropriate port and then sends the TLS ClientHello to begin the TLS handshake. When the TLS handshake has finished, the client may then initiate the first HTTP request. All HTTP data is to be sent as TLS application data. Normal HTTP behavior, including retained connections, should be followed.</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We need to be clear that there are three levels of awareness of a connection in HTTPS. At the HTTP level, an HTTP client requests a connection to an HTTP server by sending a connection request to the next lowest layer. Typically, the next lowest layer is TCP, but it also may be TLS/SSL. At the level of TLS, a session is established between a TLS client and a TLS server. This session can support one or more connections at any time. As we have seen, a TLS request to establish a connection begins with the establishment of a TCP connection between the TCP entity on the client side and the TCP entity on the server side.</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An HTTP client or server can indicate the closing of a connection by including the following line in an HTTP record: Connection: close. This indicates that the connection will be closed after this record is delivered.</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closure of an HTTPS connection requires that TLS close the connection with the peer TLS entity on the remote side, which will involve closing the underlying TCP connection. At the TLS level, the proper way to close a connection is for each side to use the TLS alert protocol to send a close_notify alert. TLS implementations must initiate an exchange of closure alerts before closing a connection. A TLS implementation may, after sending a closure alert, close the connection without waiting for the peer to send its closure alert, generating an “incomplete close.” Note that an implementation that does this may choose to reuse the session. This should only be done when the application knows (typically through detecting HTTP message boundaries) that it has received all the message data that it cares about.</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HTTP clients also must be able to cope with a situation in which the underlying TCP connection is terminated without a prior close_notify alert and without a Connection: close indicator. Such a situation could be due to a programming error on the server or a communication error that causes the TCP connection to drop. However, the unannounced TCP closure could be evidence of some sort of attack. So the HTTPS client should issue some sort of security warning when this occurs.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544549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The Internet community has developed application-specific security mechanisms in a number of areas, including electronic mail (S/MIME), client/server (Kerberos), Web access (SSL), and others. However, users have some security concerns that cut across protocol layers. For example, an enterprise can run a secure, private TCP/IP network by disallowing links to untrusted sites, encrypting packets that leave the premises, and authenticating packets that enter the premises. By implementing security at the IP level, an organization can ensure secure networking not only for applications that have security mechanisms but also for the many security-ignorant applications.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In response to these issues, the Internet Architecture Board (IAB) included authentication and encryption as necessary security features in the next-generation IP, which has been issued as IPv6. Fortunately, these security capabilities were designed to be usable both with the current IPv4 and the future IPv6. This means that vendors can begin offering these features now, and many vendors do now have some IPsec capability in their products.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IP-level security encompasses three functional areas: authentication, confidentiality,</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and key management. The authentication mechanism assures that a received</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 packet was, in fact, transmitted by the party identified as the source in the packet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header. In addition, this mechanism assures that the packet has not been altered in</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transit. The confidentiality facility enables communicating nodes to encrypt messages</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to prevent eavesdropping by third parties. The key management facility is concerned</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with the secure exchange of keys. The current version of IPsec, known as IPsecv3,</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encompasses authentication and confidentiality. Key management is provided by the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Internet Key Exchange standard, IKEv2.</a:t>
            </a:r>
          </a:p>
          <a:p>
            <a:endParaRPr lang="en-US" sz="1200" b="0" i="0" u="none" strike="noStrike" kern="1200" cap="none" baseline="0" dirty="0">
              <a:solidFill>
                <a:schemeClr val="tx1"/>
              </a:solidFill>
              <a:latin typeface="Times New Roman" pitchFamily="-110" charset="0"/>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76253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 The benefits of IPsec include the following:</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When IPsec is implemented in a firewall or router, it provides strong security that can be applied to all traffic crossing the perimeter. Traffic within a company or workgroup does not incur the overhead of security-related processing.</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IPsec in a firewall is resistant to bypass if all traffic from the outside must use IP and the firewall is the only means of entrance from the Internet into the organization.</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IPsec is below the transport layer (TCP, UDP) and so is transparent to applications. There is no need to change software on a user or server system when IPsec is implemented in the firewall or router. Even if IPsec is implemented in end systems, upper-layer software, including applications, is not affected.</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IPsec can be transparent to end users. There is no need to train users on security mechanisms, issue keying material on a per-user basis, or revoke keying material when users leave the organization.</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IPsec can provide security for individual users if needed. This is useful for off-site workers and for setting up a secure virtual subnetwork within an organization for sensitive applications.</a:t>
            </a:r>
          </a:p>
          <a:p>
            <a:r>
              <a:rPr lang="en-US" sz="1200" b="0" i="0" u="none" strike="noStrike" kern="1200" cap="none" baseline="0" dirty="0">
                <a:solidFill>
                  <a:schemeClr val="tx1"/>
                </a:solidFill>
                <a:latin typeface="Times New Roman" pitchFamily="-110" charset="0"/>
                <a:ea typeface="Arial"/>
                <a:cs typeface="Arial"/>
                <a:sym typeface="Arial"/>
              </a:rPr>
              <a:t>In addition to supporting end users and protecting premises systems and networks, IPsec can play a vital role in the routing architecture required for internetworking. [HUIT98] lists the following examples of the use of IPsec. IPsec can assure that</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 router advertisement (a new router advertises its presence) comes from an authorized router.</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 neighbor advertisement (a router seeks to establish or maintain a neighbor relationship with a router in another routing domain) comes from an authorized router.</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 redirect message comes from the router to which the initial packet was sent.</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 A routing update is not forged.</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Without such security measures, an opponent can disrupt communications or divert some traffic. Routing protocols such as Open Shortest Path First (OSPF) should be run on top of security associations between routers that are defined by IPsec.</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453447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IPsec provides two main functions: a combined authentication/encryption function called Encapsulating Security Payload (ESP) and a key exchange function. For virtual private networks, both authentication and encryption are generally desired, because it is important both to (1) assure that unauthorized users do not penetrate the virtual private network and (2) assure that eavesdroppers on the Internet cannot read messages sent over the virtual private network. There is also an authentication- only function, implemented using an Authentication Header (AH). Because message authentication is provided by ESP, the use of AH is deprecated. It is included in IPsecv3 for backward compatibility but should not be used in new applications. We do not discuss AH in this chapter.</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key exchange function allows for manual exchange of keys as well as an automated scheme.</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The IPsec specification is quite complex and covers numerous documents. The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most important of these are:</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RFC 2401 (</a:t>
            </a:r>
            <a:r>
              <a:rPr lang="en-US" sz="1200" b="0" i="1" u="none" strike="noStrike" kern="1200" cap="none" dirty="0">
                <a:solidFill>
                  <a:schemeClr val="tx1"/>
                </a:solidFill>
                <a:effectLst/>
                <a:latin typeface="Times New Roman" pitchFamily="-110" charset="0"/>
                <a:ea typeface="Arial"/>
                <a:cs typeface="Arial"/>
                <a:sym typeface="Arial"/>
              </a:rPr>
              <a:t>Security Architecture for the Internet Protocol, 1</a:t>
            </a:r>
            <a:r>
              <a:rPr lang="en-US" sz="1200" b="0" i="0" u="none" strike="noStrike" kern="1200" cap="none" dirty="0">
                <a:solidFill>
                  <a:schemeClr val="tx1"/>
                </a:solidFill>
                <a:effectLst/>
                <a:latin typeface="Times New Roman" pitchFamily="-110" charset="0"/>
                <a:ea typeface="Arial"/>
                <a:cs typeface="Arial"/>
                <a:sym typeface="Arial"/>
              </a:rPr>
              <a:t>998</a:t>
            </a:r>
            <a:r>
              <a:rPr lang="en-US" sz="1200" b="0" i="1" u="none" strike="noStrike" kern="1200" cap="none" dirty="0">
                <a:solidFill>
                  <a:schemeClr val="tx1"/>
                </a:solidFill>
                <a:effectLst/>
                <a:latin typeface="Times New Roman" pitchFamily="-110" charset="0"/>
                <a:ea typeface="Arial"/>
                <a:cs typeface="Arial"/>
                <a:sym typeface="Arial"/>
              </a:rPr>
              <a:t>)</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RFC 4302 (</a:t>
            </a:r>
            <a:r>
              <a:rPr lang="en-US" sz="1200" b="0" i="1" u="none" strike="noStrike" kern="1200" cap="none" dirty="0">
                <a:solidFill>
                  <a:schemeClr val="tx1"/>
                </a:solidFill>
                <a:effectLst/>
                <a:latin typeface="Times New Roman" pitchFamily="-110" charset="0"/>
                <a:ea typeface="Arial"/>
                <a:cs typeface="Arial"/>
                <a:sym typeface="Arial"/>
              </a:rPr>
              <a:t>IP Authentication Header</a:t>
            </a:r>
            <a:r>
              <a:rPr lang="en-US" sz="1200" b="0" i="0" u="none" strike="noStrike" kern="1200" cap="none" dirty="0">
                <a:solidFill>
                  <a:schemeClr val="tx1"/>
                </a:solidFill>
                <a:effectLst/>
                <a:latin typeface="Times New Roman" pitchFamily="-110" charset="0"/>
                <a:ea typeface="Arial"/>
                <a:cs typeface="Arial"/>
                <a:sym typeface="Arial"/>
              </a:rPr>
              <a:t>, 2005)</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RFC 4303 (</a:t>
            </a:r>
            <a:r>
              <a:rPr lang="en-US" sz="1200" b="0" i="1" u="none" strike="noStrike" kern="1200" cap="none" dirty="0">
                <a:solidFill>
                  <a:schemeClr val="tx1"/>
                </a:solidFill>
                <a:effectLst/>
                <a:latin typeface="Times New Roman" pitchFamily="-110" charset="0"/>
                <a:ea typeface="Arial"/>
                <a:cs typeface="Arial"/>
                <a:sym typeface="Arial"/>
              </a:rPr>
              <a:t>IP Encapsulating Security Payload (ESP)</a:t>
            </a:r>
            <a:r>
              <a:rPr lang="en-US" sz="1200" b="0" i="0" u="none" strike="noStrike" kern="1200" cap="none" dirty="0">
                <a:solidFill>
                  <a:schemeClr val="tx1"/>
                </a:solidFill>
                <a:effectLst/>
                <a:latin typeface="Times New Roman" pitchFamily="-110" charset="0"/>
                <a:ea typeface="Arial"/>
                <a:cs typeface="Arial"/>
                <a:sym typeface="Arial"/>
              </a:rPr>
              <a:t>, 2005)</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RFC 4306 (</a:t>
            </a:r>
            <a:r>
              <a:rPr lang="en-US" sz="1200" b="0" i="1" u="none" strike="noStrike" kern="1200" cap="none" dirty="0">
                <a:solidFill>
                  <a:schemeClr val="tx1"/>
                </a:solidFill>
                <a:effectLst/>
                <a:latin typeface="Times New Roman" pitchFamily="-110" charset="0"/>
                <a:ea typeface="Arial"/>
                <a:cs typeface="Arial"/>
                <a:sym typeface="Arial"/>
              </a:rPr>
              <a:t>Internet Key Exchange (IKEv2) Protocol</a:t>
            </a:r>
            <a:r>
              <a:rPr lang="en-US" sz="1200" b="0" i="0" u="none" strike="noStrike" kern="1200" cap="none" dirty="0">
                <a:solidFill>
                  <a:schemeClr val="tx1"/>
                </a:solidFill>
                <a:effectLst/>
                <a:latin typeface="Times New Roman" pitchFamily="-110" charset="0"/>
                <a:ea typeface="Arial"/>
                <a:cs typeface="Arial"/>
                <a:sym typeface="Arial"/>
              </a:rPr>
              <a:t>, 2005)</a:t>
            </a:r>
          </a:p>
          <a:p>
            <a:endParaRPr lang="en-US" sz="1200" b="0" i="0" u="none" strike="noStrike" kern="1200" cap="none" dirty="0">
              <a:solidFill>
                <a:schemeClr val="tx1"/>
              </a:solidFill>
              <a:effectLst/>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In this section, we provide an overview of some of the most important elements</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of IPsec.</a:t>
            </a:r>
          </a:p>
          <a:p>
            <a:endParaRPr lang="en-US" sz="1200" b="0" i="0" u="none" strike="noStrike" kern="1200" cap="none" baseline="0" dirty="0">
              <a:solidFill>
                <a:schemeClr val="tx1"/>
              </a:solidFill>
              <a:latin typeface="Times New Roman" pitchFamily="-110" charset="0"/>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962289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A key concept that appears in both the authentication and confidentiality mechanisms for IP is the security association (SA). An association is a one-way relationship between a sender and a receiver that affords security services to the traffic carried on it. If a peer relationship is needed, for two-way secure exchange, then two security associations are required. Security services are afforded to an SA for the use of ESP.</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An SA is uniquely identified by three parameters: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Security parameter index (SPI): </a:t>
            </a:r>
            <a:r>
              <a:rPr lang="en-US" sz="1200" b="0" i="0" u="none" strike="noStrike" kern="1200" cap="none" baseline="0" dirty="0">
                <a:solidFill>
                  <a:schemeClr val="tx1"/>
                </a:solidFill>
                <a:latin typeface="Times New Roman" pitchFamily="-110" charset="0"/>
                <a:ea typeface="Arial"/>
                <a:cs typeface="Arial"/>
                <a:sym typeface="Arial"/>
              </a:rPr>
              <a:t>A bit string assigned to this SA and having local significance only. The SPI is carried in an ESP header to enable the receiving system to select the SA under which a received packet will be processed.</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IP destination address:</a:t>
            </a:r>
            <a:r>
              <a:rPr lang="en-US" sz="1200" b="0" i="0" u="none" strike="noStrike" kern="1200" cap="none" baseline="0" dirty="0">
                <a:solidFill>
                  <a:schemeClr val="tx1"/>
                </a:solidFill>
                <a:latin typeface="Times New Roman" pitchFamily="-110" charset="0"/>
                <a:ea typeface="Arial"/>
                <a:cs typeface="Arial"/>
                <a:sym typeface="Arial"/>
              </a:rPr>
              <a:t> This is the address of the destination  endpoint of the SA, which may be an end-user system or a network system such as a firewall or router.</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Protocol identifier: </a:t>
            </a:r>
            <a:r>
              <a:rPr lang="en-US" sz="1200" b="0" i="0" u="none" strike="noStrike" kern="1200" cap="none" baseline="0" dirty="0">
                <a:solidFill>
                  <a:schemeClr val="tx1"/>
                </a:solidFill>
                <a:latin typeface="Times New Roman" pitchFamily="-110" charset="0"/>
                <a:ea typeface="Arial"/>
                <a:cs typeface="Arial"/>
                <a:sym typeface="Arial"/>
              </a:rPr>
              <a:t>This field in the outer IP header indicates whether the association is an AH or ESP security association.</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Hence, in any IP packet, the security association is uniquely identified by the Destination Address in the IPv4 or IPv6 header and the SPI in the enclosed extension header (AH or ESP).</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An IPsec implementation includes a security association database that defines the parameters associated with each SA. An SA is characterized by the following parameters:</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Sequence number counter: </a:t>
            </a:r>
            <a:r>
              <a:rPr lang="en-US" sz="1200" b="0" i="0" u="none" strike="noStrike" kern="1200" cap="none" baseline="0" dirty="0">
                <a:solidFill>
                  <a:schemeClr val="tx1"/>
                </a:solidFill>
                <a:latin typeface="Times New Roman" pitchFamily="-110" charset="0"/>
                <a:ea typeface="Arial"/>
                <a:cs typeface="Arial"/>
                <a:sym typeface="Arial"/>
              </a:rPr>
              <a:t>A 32-bit value used to generate the Sequence Number field in AH or ESP headers.</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Sequence counter overflow: </a:t>
            </a:r>
            <a:r>
              <a:rPr lang="en-US" sz="1200" b="0" i="0" u="none" strike="noStrike" kern="1200" cap="none" baseline="0" dirty="0">
                <a:solidFill>
                  <a:schemeClr val="tx1"/>
                </a:solidFill>
                <a:latin typeface="Times New Roman" pitchFamily="-110" charset="0"/>
                <a:ea typeface="Arial"/>
                <a:cs typeface="Arial"/>
                <a:sym typeface="Arial"/>
              </a:rPr>
              <a:t>A flag indicating whether overflow of the sequence number counter should generate an auditable event and prevent further transmission of packets on this SA.</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Antireplay window: </a:t>
            </a:r>
            <a:r>
              <a:rPr lang="en-US" sz="1200" b="0" i="0" u="none" strike="noStrike" kern="1200" cap="none" baseline="0" dirty="0">
                <a:solidFill>
                  <a:schemeClr val="tx1"/>
                </a:solidFill>
                <a:latin typeface="Times New Roman" pitchFamily="-110" charset="0"/>
                <a:ea typeface="Arial"/>
                <a:cs typeface="Arial"/>
                <a:sym typeface="Arial"/>
              </a:rPr>
              <a:t>Used to determine whether an inbound AH or ESP packet is a replay, by defining a sliding window within which the sequence number must fall.</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AH information</a:t>
            </a:r>
            <a:r>
              <a:rPr lang="en-US" sz="1200" b="0" i="0" u="none" strike="noStrike" kern="1200" cap="none" baseline="0" dirty="0">
                <a:solidFill>
                  <a:schemeClr val="tx1"/>
                </a:solidFill>
                <a:latin typeface="Times New Roman" pitchFamily="-110" charset="0"/>
                <a:ea typeface="Arial"/>
                <a:cs typeface="Arial"/>
                <a:sym typeface="Arial"/>
              </a:rPr>
              <a:t>: Authentication algorithm, keys, key lifetimes, and related parameters being used with AH.</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ESP information: </a:t>
            </a:r>
            <a:r>
              <a:rPr lang="en-US" sz="1200" b="0" i="0" u="none" strike="noStrike" kern="1200" cap="none" baseline="0" dirty="0">
                <a:solidFill>
                  <a:schemeClr val="tx1"/>
                </a:solidFill>
                <a:latin typeface="Times New Roman" pitchFamily="-110" charset="0"/>
                <a:ea typeface="Arial"/>
                <a:cs typeface="Arial"/>
                <a:sym typeface="Arial"/>
              </a:rPr>
              <a:t>Encryption and authentication algorithm, keys, initialization values, key lifetimes, and related parameters being used with ESP.</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Lifetime of this security association: </a:t>
            </a:r>
            <a:r>
              <a:rPr lang="en-US" sz="1200" b="0" i="0" u="none" strike="noStrike" kern="1200" cap="none" baseline="0" dirty="0">
                <a:solidFill>
                  <a:schemeClr val="tx1"/>
                </a:solidFill>
                <a:latin typeface="Times New Roman" pitchFamily="-110" charset="0"/>
                <a:ea typeface="Arial"/>
                <a:cs typeface="Arial"/>
                <a:sym typeface="Arial"/>
              </a:rPr>
              <a:t>A time interval or byte count after which an SA must be replaced with a new SA (and new SPI) or terminated, plus an indication of which of these actions should occur.</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IPsec protocol mode: </a:t>
            </a:r>
            <a:r>
              <a:rPr lang="en-US" sz="1200" b="0" i="0" u="none" strike="noStrike" kern="1200" cap="none" baseline="0" dirty="0">
                <a:solidFill>
                  <a:schemeClr val="tx1"/>
                </a:solidFill>
                <a:latin typeface="Times New Roman" pitchFamily="-110" charset="0"/>
                <a:ea typeface="Arial"/>
                <a:cs typeface="Arial"/>
                <a:sym typeface="Arial"/>
              </a:rPr>
              <a:t>Tunnel, transport, or wildcard (required for all implementations). These modes are discussed later in this section.</a:t>
            </a:r>
          </a:p>
          <a:p>
            <a:endParaRPr lang="en-US" sz="1200" b="1" i="0" u="none" strike="noStrike" kern="1200" cap="none" baseline="0" dirty="0">
              <a:solidFill>
                <a:schemeClr val="tx1"/>
              </a:solidFill>
              <a:latin typeface="Times New Roman" pitchFamily="-110" charset="0"/>
              <a:ea typeface="Arial"/>
              <a:cs typeface="Arial"/>
              <a:sym typeface="Arial"/>
            </a:endParaRPr>
          </a:p>
          <a:p>
            <a:r>
              <a:rPr lang="en-US" sz="1200" b="1" i="0" u="none" strike="noStrike" kern="1200" cap="none" baseline="0" dirty="0">
                <a:solidFill>
                  <a:schemeClr val="tx1"/>
                </a:solidFill>
                <a:latin typeface="Times New Roman" pitchFamily="-110" charset="0"/>
                <a:ea typeface="Arial"/>
                <a:cs typeface="Arial"/>
                <a:sym typeface="Arial"/>
              </a:rPr>
              <a:t>• Path MTU: </a:t>
            </a:r>
            <a:r>
              <a:rPr lang="en-US" sz="1200" b="0" i="0" u="none" strike="noStrike" kern="1200" cap="none" baseline="0" dirty="0">
                <a:solidFill>
                  <a:schemeClr val="tx1"/>
                </a:solidFill>
                <a:latin typeface="Times New Roman" pitchFamily="-110" charset="0"/>
                <a:ea typeface="Arial"/>
                <a:cs typeface="Arial"/>
                <a:sym typeface="Arial"/>
              </a:rPr>
              <a:t>Any observed path maximum transmission unit (maximum size of a packet that can be transmitted without fragmentation) and aging variables (required for all implementations).</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The key management mechanism that is used to distribute keys is coupled to the authentication and privacy mechanisms only by way of the security parameters index. Hence, authentication and privacy have been specified independent of any specific key management mechanism.</a:t>
            </a:r>
            <a:endParaRPr lang="en-US" b="0"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40763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latin typeface="Times New Roman" pitchFamily="-110" charset="0"/>
                <a:ea typeface="+mn-ea"/>
                <a:cs typeface="+mn-cs"/>
              </a:rPr>
              <a:t>The Encapsulating Security Payload provides confidentiality services, including confidentiality of message contents and limited traffic flow confidentiality. As an optional feature, ESP can also provide an authentication service.</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Figure 22.8 shows the format of an ESP packet. It contains the following fields:</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Security Parameters Index (32 bits): </a:t>
            </a:r>
            <a:r>
              <a:rPr lang="en-US" sz="1200" b="0" kern="1200" baseline="0" dirty="0">
                <a:solidFill>
                  <a:schemeClr val="tx1"/>
                </a:solidFill>
                <a:latin typeface="Times New Roman" pitchFamily="-110" charset="0"/>
                <a:ea typeface="+mn-ea"/>
                <a:cs typeface="+mn-cs"/>
              </a:rPr>
              <a:t>Identifies a security association.</a:t>
            </a:r>
          </a:p>
          <a:p>
            <a:endParaRPr lang="en-US" sz="1200" b="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Sequence Number (32 bits): </a:t>
            </a:r>
            <a:r>
              <a:rPr lang="en-US" sz="1200" b="0" kern="1200" baseline="0" dirty="0">
                <a:solidFill>
                  <a:schemeClr val="tx1"/>
                </a:solidFill>
                <a:latin typeface="Times New Roman" pitchFamily="-110" charset="0"/>
                <a:ea typeface="+mn-ea"/>
                <a:cs typeface="+mn-cs"/>
              </a:rPr>
              <a:t>A monotonically increasing counter value.</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Payload Data (variable): </a:t>
            </a:r>
            <a:r>
              <a:rPr lang="en-US" sz="1200" b="0" kern="1200" baseline="0" dirty="0">
                <a:solidFill>
                  <a:schemeClr val="tx1"/>
                </a:solidFill>
                <a:latin typeface="Times New Roman" pitchFamily="-110" charset="0"/>
                <a:ea typeface="+mn-ea"/>
                <a:cs typeface="+mn-cs"/>
              </a:rPr>
              <a:t>This is a transport-level segment (transport mode) or IP packet (tunnel mode) that is protected by encryption.</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Padding (0–255 bytes): </a:t>
            </a:r>
            <a:r>
              <a:rPr lang="en-US" sz="1200" b="0" kern="1200" baseline="0" dirty="0">
                <a:solidFill>
                  <a:schemeClr val="tx1"/>
                </a:solidFill>
                <a:latin typeface="Times New Roman" pitchFamily="-110" charset="0"/>
                <a:ea typeface="+mn-ea"/>
                <a:cs typeface="+mn-cs"/>
              </a:rPr>
              <a:t>May be required if the encryption algorithm requires the plaintext to be a multiple of some number of octets.</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Pad Length (8 bits): </a:t>
            </a:r>
            <a:r>
              <a:rPr lang="en-US" sz="1200" b="0" kern="1200" baseline="0" dirty="0">
                <a:solidFill>
                  <a:schemeClr val="tx1"/>
                </a:solidFill>
                <a:latin typeface="Times New Roman" pitchFamily="-110" charset="0"/>
                <a:ea typeface="+mn-ea"/>
                <a:cs typeface="+mn-cs"/>
              </a:rPr>
              <a:t>Indicates the number of pad bytes immediately preceding this field.</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Next Header (8 bits): </a:t>
            </a:r>
            <a:r>
              <a:rPr lang="en-US" sz="1200" b="0" kern="1200" baseline="0" dirty="0">
                <a:solidFill>
                  <a:schemeClr val="tx1"/>
                </a:solidFill>
                <a:latin typeface="Times New Roman" pitchFamily="-110" charset="0"/>
                <a:ea typeface="+mn-ea"/>
                <a:cs typeface="+mn-cs"/>
              </a:rPr>
              <a:t>Identifies the type of data contained in the Payload Data field by identifying the first header in that payload (e.g., an extension header in IPv6, or an upper-layer protocol such as TCP).</a:t>
            </a:r>
          </a:p>
          <a:p>
            <a:endParaRPr lang="en-US" sz="1200" b="0"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 Integrity Check Value (variable):</a:t>
            </a:r>
            <a:r>
              <a:rPr lang="en-US" sz="1200" b="0" kern="1200" baseline="0" dirty="0">
                <a:solidFill>
                  <a:schemeClr val="tx1"/>
                </a:solidFill>
                <a:latin typeface="Times New Roman" pitchFamily="-110" charset="0"/>
                <a:ea typeface="+mn-ea"/>
                <a:cs typeface="+mn-cs"/>
              </a:rPr>
              <a:t> A variable-length field (must be an integral number of 32-bit words) that contains the integrity check value computed over the ESP packet minus the Authentication Data field</a:t>
            </a:r>
            <a:endParaRPr lang="en-AU" b="0" dirty="0"/>
          </a:p>
          <a:p>
            <a:pPr>
              <a:lnSpc>
                <a:spcPct val="100000"/>
              </a:lnSpc>
              <a:spcBef>
                <a:spcPts val="600"/>
              </a:spcBef>
              <a:spcAft>
                <a:spcPts val="0"/>
              </a:spcAft>
            </a:pPr>
            <a:r>
              <a:rPr lang="en-US" sz="1200" b="0" i="0" u="none" strike="noStrike" kern="1200" cap="none" baseline="0" dirty="0">
                <a:solidFill>
                  <a:schemeClr val="tx1"/>
                </a:solidFill>
                <a:latin typeface="Times New Roman" pitchFamily="-110" charset="0"/>
                <a:ea typeface="Arial"/>
                <a:cs typeface="Arial"/>
                <a:sym typeface="Arial"/>
              </a:rPr>
              <a:t>
</a:t>
            </a:r>
            <a:r>
              <a:rPr lang="en-US" sz="1800" dirty="0">
                <a:effectLst/>
                <a:latin typeface="Calibri" panose="020F0502020204030204" pitchFamily="34" charset="0"/>
                <a:ea typeface="Times New Roman" panose="02020603050405020304" pitchFamily="18" charset="0"/>
              </a:rPr>
              <a:t>The illustration has five layers as follows.</a:t>
            </a:r>
          </a:p>
          <a:p>
            <a:pPr>
              <a:lnSpc>
                <a:spcPct val="100000"/>
              </a:lnSpc>
              <a:spcBef>
                <a:spcPts val="600"/>
              </a:spcBef>
              <a:spcAft>
                <a:spcPts val="0"/>
              </a:spcAft>
            </a:pPr>
            <a:r>
              <a:rPr lang="en-US" sz="1800" dirty="0">
                <a:effectLst/>
                <a:latin typeface="Calibri" panose="020F0502020204030204" pitchFamily="34" charset="0"/>
                <a:ea typeface="Times New Roman" panose="02020603050405020304" pitchFamily="18" charset="0"/>
              </a:rPr>
              <a:t>• Security parameters index, S P I</a:t>
            </a:r>
            <a:endParaRPr lang="en-IN" sz="1800" dirty="0">
              <a:effectLst/>
              <a:latin typeface="Calibri" panose="020F0502020204030204" pitchFamily="34" charset="0"/>
              <a:ea typeface="Calibri" panose="020F0502020204030204" pitchFamily="34" charset="0"/>
            </a:endParaRPr>
          </a:p>
          <a:p>
            <a:pPr>
              <a:lnSpc>
                <a:spcPct val="100000"/>
              </a:lnSpc>
              <a:spcBef>
                <a:spcPts val="600"/>
              </a:spcBef>
              <a:spcAft>
                <a:spcPts val="0"/>
              </a:spcAft>
            </a:pPr>
            <a:r>
              <a:rPr lang="en-US" sz="1800" dirty="0">
                <a:effectLst/>
                <a:latin typeface="Calibri" panose="020F0502020204030204" pitchFamily="34" charset="0"/>
                <a:ea typeface="Times New Roman" panose="02020603050405020304" pitchFamily="18" charset="0"/>
              </a:rPr>
              <a:t>• Sequence number</a:t>
            </a:r>
            <a:endParaRPr lang="en-IN" sz="1800" dirty="0">
              <a:effectLst/>
              <a:latin typeface="Calibri" panose="020F0502020204030204" pitchFamily="34" charset="0"/>
              <a:ea typeface="Calibri" panose="020F0502020204030204" pitchFamily="34" charset="0"/>
            </a:endParaRPr>
          </a:p>
          <a:p>
            <a:pPr>
              <a:lnSpc>
                <a:spcPct val="100000"/>
              </a:lnSpc>
              <a:spcBef>
                <a:spcPts val="600"/>
              </a:spcBef>
              <a:spcAft>
                <a:spcPts val="0"/>
              </a:spcAft>
            </a:pPr>
            <a:r>
              <a:rPr lang="en-US" sz="1800" dirty="0">
                <a:effectLst/>
                <a:latin typeface="Calibri" panose="020F0502020204030204" pitchFamily="34" charset="0"/>
                <a:ea typeface="Times New Roman" panose="02020603050405020304" pitchFamily="18" charset="0"/>
              </a:rPr>
              <a:t>• Payload data, variable</a:t>
            </a:r>
            <a:endParaRPr lang="en-IN" sz="1800" dirty="0">
              <a:effectLst/>
              <a:latin typeface="Calibri" panose="020F0502020204030204" pitchFamily="34" charset="0"/>
              <a:ea typeface="Calibri" panose="020F0502020204030204" pitchFamily="34" charset="0"/>
            </a:endParaRPr>
          </a:p>
          <a:p>
            <a:pPr>
              <a:lnSpc>
                <a:spcPct val="100000"/>
              </a:lnSpc>
              <a:spcBef>
                <a:spcPts val="600"/>
              </a:spcBef>
              <a:spcAft>
                <a:spcPts val="0"/>
              </a:spcAft>
            </a:pPr>
            <a:r>
              <a:rPr lang="en-US" sz="1800" dirty="0">
                <a:effectLst/>
                <a:latin typeface="Calibri" panose="020F0502020204030204" pitchFamily="34" charset="0"/>
                <a:ea typeface="Times New Roman" panose="02020603050405020304" pitchFamily="18" charset="0"/>
              </a:rPr>
              <a:t>• Padding, 0 to 255 bytes</a:t>
            </a:r>
            <a:endParaRPr lang="en-IN" sz="1800" dirty="0">
              <a:effectLst/>
              <a:latin typeface="Calibri" panose="020F0502020204030204" pitchFamily="34" charset="0"/>
              <a:ea typeface="Calibri" panose="020F0502020204030204" pitchFamily="34" charset="0"/>
            </a:endParaRPr>
          </a:p>
          <a:p>
            <a:pPr>
              <a:lnSpc>
                <a:spcPct val="100000"/>
              </a:lnSpc>
              <a:spcBef>
                <a:spcPts val="600"/>
              </a:spcBef>
              <a:spcAft>
                <a:spcPts val="0"/>
              </a:spcAft>
            </a:pPr>
            <a:r>
              <a:rPr lang="en-US" sz="1800" dirty="0">
                <a:effectLst/>
                <a:latin typeface="Calibri" panose="020F0502020204030204" pitchFamily="34" charset="0"/>
                <a:ea typeface="Times New Roman" panose="02020603050405020304" pitchFamily="18" charset="0"/>
              </a:rPr>
              <a:t>• Authentication data, variable</a:t>
            </a:r>
            <a:endParaRPr lang="en-IN" sz="1800" dirty="0">
              <a:effectLst/>
              <a:latin typeface="Calibri" panose="020F0502020204030204" pitchFamily="34" charset="0"/>
              <a:ea typeface="Calibri" panose="020F0502020204030204" pitchFamily="34" charset="0"/>
            </a:endParaRPr>
          </a:p>
          <a:p>
            <a:pPr>
              <a:lnSpc>
                <a:spcPct val="100000"/>
              </a:lnSpc>
              <a:spcBef>
                <a:spcPts val="600"/>
              </a:spcBef>
              <a:spcAft>
                <a:spcPts val="0"/>
              </a:spcAft>
            </a:pPr>
            <a:r>
              <a:rPr lang="en-US" sz="1800" dirty="0">
                <a:effectLst/>
                <a:latin typeface="Calibri" panose="020F0502020204030204" pitchFamily="34" charset="0"/>
                <a:ea typeface="Times New Roman" panose="02020603050405020304" pitchFamily="18" charset="0"/>
              </a:rPr>
              <a:t>Each of the layers is 32 bits in length. The padding consists of Pad length and Next header. The pad length is 16 to 24 bits long and the next header is 24 to 32 bits long. The payload data and the padding contribute to the Confidentiality coverage. The top four layers excluding the authentication data, variable, contribute to the Authentication coverage.</a:t>
            </a:r>
            <a:endParaRPr lang="en-IN"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12276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10" charset="0"/>
                <a:ea typeface="Arial"/>
                <a:cs typeface="Arial"/>
                <a:sym typeface="Arial"/>
              </a:rPr>
              <a:t>ESP supports two modes of use: transport and tunnel modes. We begin this section with a brief overview.</a:t>
            </a:r>
          </a:p>
          <a:p>
            <a:endParaRPr lang="en-US" sz="1200" b="0" i="1"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Transport mode provides protection primarily for upper-layer protocols. That is, transport mode protection extends to the payload of an IP packet. Examples include a TCP or UDP segment, both of which operate directly above IP in a host protocol stack. Typically, transport mode is used for end-to-end communication between two hosts (e.g., a client and a server, or two workstations). When a host runs ESP over IPv4, the payload is the data that normally follow the IP header. For IPv6, the payload is the data that normally follow both the IP header and any IPv6 extension headers that are present, with the possible exception of the destination options header, which may be included in the protection.</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ESP in transport mode encrypts and optionally authenticates the IP payload but not the IP header.</a:t>
            </a:r>
          </a:p>
          <a:p>
            <a:endParaRPr lang="en-US" sz="1200" b="0" i="1"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Tunnel mode provides protection to the entire IP packet. To achieve this, after the ESP fields are added to the IP packet, the entire packet plus security fields are treated as the payload of new outer IP packet with a new outer IP header. The entire original, inner, packet travels through a tunnel from one point of an IP network to another; no routers along the way are able to examine the inner IP header. Because the original packet is encapsulated, the new, larger packet may have totally different source and destination addresses, adding to the security. Tunnel mode is used when one or both ends of a security association are a security gateway, such as a firewall or router that implements IPsec. With tunnel mode, a number of hosts on networks behind firewalls may engage in secure communications without implementing IPsec. The unprotected packets generated by such hosts are tunneled through external networks by tunnel mode SAs set up by the IPsec software in the firewall or secure router at the boundary of the local network.</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dirty="0">
                <a:solidFill>
                  <a:schemeClr val="tx1"/>
                </a:solidFill>
                <a:effectLst/>
                <a:latin typeface="Times New Roman" pitchFamily="-110" charset="0"/>
                <a:ea typeface="Arial"/>
                <a:cs typeface="Arial"/>
                <a:sym typeface="Arial"/>
              </a:rPr>
              <a:t> Here is an example of how tunnel mode IPsec operates. Host A on a network</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generates an IP packet with the destination address of host B on another network,</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similar to that shown in Figure 9.3. This packet is routed from the originating host</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to a firewall or secure router at the boundary of A’s network. The firewall filters all</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outgoing packets to determine the need for IPsec processing. If this packet from</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A to B requires IPsec, the firewall performs IPsec processing and encapsulates the</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packet with an outer IP header. The source IP address of this outer IP packet is this</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firewall, and the destination address may be a firewall that forms the boundary to</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B’s local network. This packet is now routed to B’s firewall, with intermediate routers</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examining only the outer IP header. At B’s firewall, the outer IP header is stripped</a:t>
            </a:r>
            <a:r>
              <a:rPr lang="en-US" sz="1200" b="0" i="0" u="none" strike="noStrike" kern="1200" cap="none" baseline="0" dirty="0">
                <a:solidFill>
                  <a:schemeClr val="tx1"/>
                </a:solidFill>
                <a:effectLst/>
                <a:latin typeface="Times New Roman" pitchFamily="-110" charset="0"/>
                <a:ea typeface="Arial"/>
                <a:cs typeface="Arial"/>
                <a:sym typeface="Arial"/>
              </a:rPr>
              <a:t> </a:t>
            </a:r>
            <a:r>
              <a:rPr lang="en-US" sz="1200" b="0" i="0" u="none" strike="noStrike" kern="1200" cap="none" dirty="0">
                <a:solidFill>
                  <a:schemeClr val="tx1"/>
                </a:solidFill>
                <a:effectLst/>
                <a:latin typeface="Times New Roman" pitchFamily="-110" charset="0"/>
                <a:ea typeface="Arial"/>
                <a:cs typeface="Arial"/>
                <a:sym typeface="Arial"/>
              </a:rPr>
              <a:t>off, and the inner packet is delivered to B.</a:t>
            </a:r>
          </a:p>
          <a:p>
            <a:endParaRPr lang="en-US" sz="1200" b="0" i="0" u="none" strike="noStrike" kern="1200" cap="none" baseline="0" dirty="0">
              <a:solidFill>
                <a:schemeClr val="tx1"/>
              </a:solidFill>
              <a:latin typeface="Times New Roman" pitchFamily="-110" charset="0"/>
              <a:ea typeface="Arial"/>
              <a:cs typeface="Arial"/>
              <a:sym typeface="Arial"/>
            </a:endParaRPr>
          </a:p>
          <a:p>
            <a:r>
              <a:rPr lang="en-US" sz="1200" b="0" i="0" u="none" strike="noStrike" kern="1200" cap="none" baseline="0" dirty="0">
                <a:solidFill>
                  <a:schemeClr val="tx1"/>
                </a:solidFill>
                <a:latin typeface="Times New Roman" pitchFamily="-110" charset="0"/>
                <a:ea typeface="Arial"/>
                <a:cs typeface="Arial"/>
                <a:sym typeface="Arial"/>
              </a:rPr>
              <a:t>ESP in tunnel mode encrypts and optionally authenticates the entire inner IP packet, including the inner IP header.</a:t>
            </a:r>
            <a:endParaRPr lang="en-US" b="0"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05647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itchFamily="-107" charset="0"/>
              </a:rPr>
              <a:t>Chapter 22 summary.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112619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30</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2018, 2015, 2012</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Computer Security: Principles and Practice</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t>Fourth</a:t>
            </a:r>
            <a:r>
              <a:rPr lang="en-US" dirty="0">
                <a:solidFill>
                  <a:schemeClr val="tx2"/>
                </a:solidFill>
              </a:rPr>
              <a:t> Edition</a:t>
            </a: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22</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 xmlns:adec="http://schemas.microsoft.com/office/drawing/2017/decorative" val="1"/>
              </a:ext>
            </a:extLst>
          </p:cNvPr>
          <p:cNvSpPr>
            <a:spLocks noGrp="1"/>
          </p:cNvSpPr>
          <p:nvPr>
            <p:ph sz="quarter" idx="15"/>
          </p:nvPr>
        </p:nvSpPr>
        <p:spPr>
          <a:xfrm>
            <a:off x="5029200" y="3252789"/>
            <a:ext cx="3657600" cy="1786139"/>
          </a:xfrm>
        </p:spPr>
        <p:txBody>
          <a:bodyPr/>
          <a:lstStyle/>
          <a:p>
            <a:pPr lvl="0">
              <a:buSzPct val="25000"/>
            </a:pPr>
            <a:r>
              <a:rPr lang="en-US" dirty="0" smtClean="0"/>
              <a:t>Internet Security Protocols and Standards</a:t>
            </a:r>
            <a:endParaRPr lang="en-US" dirty="0"/>
          </a:p>
        </p:txBody>
      </p:sp>
      <p:pic>
        <p:nvPicPr>
          <p:cNvPr id="7" name="Picture 6" descr="Front Cover: Computer Security: Principles and Practice, Fourth Edition by Stallings and Brow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012" y="1704436"/>
            <a:ext cx="3541622" cy="4529841"/>
          </a:xfrm>
          <a:prstGeom prst="rect">
            <a:avLst/>
          </a:prstGeom>
          <a:ln w="9525">
            <a:solidFill>
              <a:schemeClr val="tx1"/>
            </a:solidFill>
          </a:ln>
        </p:spPr>
      </p:pic>
      <p:sp>
        <p:nvSpPr>
          <p:cNvPr id="8" name="Content Placeholder 7">
            <a:extLst>
              <a:ext uri="{FF2B5EF4-FFF2-40B4-BE49-F238E27FC236}">
                <a16:creationId xmlns:a16="http://schemas.microsoft.com/office/drawing/2014/main" id="{C8E88D28-1A9F-4FC4-946F-10B4629D1438}"/>
              </a:ext>
              <a:ext uri="{C183D7F6-B498-43B3-948B-1728B52AA6E4}">
                <adec:decorative xmlns=""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smtClean="0">
                <a:latin typeface="Verdana"/>
                <a:cs typeface="Verdana" panose="020B0604030504040204" pitchFamily="34" charset="0"/>
              </a:rPr>
              <a:t>Copyright © </a:t>
            </a:r>
            <a:r>
              <a:rPr lang="en-US" dirty="0" smtClean="0"/>
              <a:t>2018, 2015, 2012 </a:t>
            </a:r>
            <a:r>
              <a:rPr lang="en-US" altLang="en-US" sz="1200" b="0" dirty="0" smtClean="0">
                <a:latin typeface="Verdana"/>
                <a:cs typeface="Verdana" panose="020B0604030504040204" pitchFamily="34" charset="0"/>
              </a:rPr>
              <a:t>Pearson Education, Inc. All Rights Reserved</a:t>
            </a:r>
            <a:endParaRPr lang="en-US" altLang="en-US" sz="1200" b="0" dirty="0">
              <a:latin typeface="Verdana"/>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
            </a:r>
            <a:r>
              <a:rPr lang="en-US" sz="100" dirty="0" smtClean="0"/>
              <a:t> </a:t>
            </a:r>
            <a:r>
              <a:rPr lang="en-US" dirty="0" smtClean="0"/>
              <a:t>I</a:t>
            </a:r>
            <a:r>
              <a:rPr lang="en-US" sz="100" dirty="0" smtClean="0"/>
              <a:t> </a:t>
            </a:r>
            <a:r>
              <a:rPr lang="en-US" dirty="0" smtClean="0"/>
              <a:t>M</a:t>
            </a:r>
            <a:r>
              <a:rPr lang="en-US" sz="100" dirty="0" smtClean="0"/>
              <a:t> </a:t>
            </a:r>
            <a:r>
              <a:rPr lang="en-US" dirty="0" smtClean="0"/>
              <a:t>E and S/M</a:t>
            </a:r>
            <a:r>
              <a:rPr lang="en-US" sz="100" dirty="0" smtClean="0"/>
              <a:t> </a:t>
            </a:r>
            <a:r>
              <a:rPr lang="en-US" dirty="0" smtClean="0"/>
              <a:t>I</a:t>
            </a:r>
            <a:r>
              <a:rPr lang="en-US" sz="100" dirty="0" smtClean="0"/>
              <a:t> </a:t>
            </a:r>
            <a:r>
              <a:rPr lang="en-US" dirty="0" smtClean="0"/>
              <a:t>M</a:t>
            </a:r>
            <a:r>
              <a:rPr lang="en-US" sz="100" dirty="0" smtClean="0"/>
              <a:t> </a:t>
            </a:r>
            <a:r>
              <a:rPr lang="en-US" dirty="0" smtClean="0"/>
              <a:t>E</a:t>
            </a:r>
            <a:endParaRPr lang="en-US" dirty="0"/>
          </a:p>
        </p:txBody>
      </p:sp>
      <p:sp>
        <p:nvSpPr>
          <p:cNvPr id="3" name="Content Placeholder 2"/>
          <p:cNvSpPr>
            <a:spLocks noGrp="1"/>
          </p:cNvSpPr>
          <p:nvPr>
            <p:ph sz="quarter" idx="13"/>
          </p:nvPr>
        </p:nvSpPr>
        <p:spPr>
          <a:xfrm>
            <a:off x="457200" y="1556326"/>
            <a:ext cx="3526077" cy="4788911"/>
          </a:xfrm>
        </p:spPr>
        <p:txBody>
          <a:bodyPr/>
          <a:lstStyle/>
          <a:p>
            <a:pPr marL="432" indent="0">
              <a:buNone/>
            </a:pPr>
            <a:r>
              <a:rPr lang="en-US" sz="2000" b="1" dirty="0" smtClean="0"/>
              <a:t>M</a:t>
            </a:r>
            <a:r>
              <a:rPr lang="en-US" sz="100" b="1" dirty="0" smtClean="0"/>
              <a:t> </a:t>
            </a:r>
            <a:r>
              <a:rPr lang="en-US" sz="2000" b="1" dirty="0" smtClean="0"/>
              <a:t>I</a:t>
            </a:r>
            <a:r>
              <a:rPr lang="en-US" sz="100" b="1" dirty="0" smtClean="0"/>
              <a:t> </a:t>
            </a:r>
            <a:r>
              <a:rPr lang="en-US" sz="2000" b="1" dirty="0" smtClean="0"/>
              <a:t>M</a:t>
            </a:r>
            <a:r>
              <a:rPr lang="en-US" sz="100" b="1" dirty="0" smtClean="0"/>
              <a:t> </a:t>
            </a:r>
            <a:r>
              <a:rPr lang="en-US" sz="2000" b="1" dirty="0" smtClean="0"/>
              <a:t>E</a:t>
            </a:r>
          </a:p>
          <a:p>
            <a:r>
              <a:rPr lang="en-US" sz="2000" dirty="0" smtClean="0"/>
              <a:t>Extension to the old R</a:t>
            </a:r>
            <a:r>
              <a:rPr lang="en-US" sz="100" dirty="0" smtClean="0"/>
              <a:t> </a:t>
            </a:r>
            <a:r>
              <a:rPr lang="en-US" sz="2000" dirty="0" smtClean="0"/>
              <a:t>F</a:t>
            </a:r>
            <a:r>
              <a:rPr lang="en-US" sz="100" dirty="0" smtClean="0"/>
              <a:t> </a:t>
            </a:r>
            <a:r>
              <a:rPr lang="en-US" sz="2000" dirty="0" smtClean="0"/>
              <a:t>C 822 specification of an Internet mail format</a:t>
            </a:r>
          </a:p>
          <a:p>
            <a:pPr lvl="1"/>
            <a:r>
              <a:rPr lang="en-US" sz="2000" dirty="0" smtClean="0"/>
              <a:t>R</a:t>
            </a:r>
            <a:r>
              <a:rPr lang="en-US" sz="100" dirty="0" smtClean="0"/>
              <a:t> </a:t>
            </a:r>
            <a:r>
              <a:rPr lang="en-US" sz="2000" dirty="0" smtClean="0"/>
              <a:t>F</a:t>
            </a:r>
            <a:r>
              <a:rPr lang="en-US" sz="100" dirty="0" smtClean="0"/>
              <a:t> </a:t>
            </a:r>
            <a:r>
              <a:rPr lang="en-US" sz="2000" dirty="0" smtClean="0"/>
              <a:t>C 822 defines a simple heading with To, From, Subject</a:t>
            </a:r>
          </a:p>
          <a:p>
            <a:pPr lvl="1"/>
            <a:r>
              <a:rPr lang="en-US" sz="2000" dirty="0" smtClean="0"/>
              <a:t>Assumes A</a:t>
            </a:r>
            <a:r>
              <a:rPr lang="en-US" sz="100" dirty="0" smtClean="0"/>
              <a:t> </a:t>
            </a:r>
            <a:r>
              <a:rPr lang="en-US" sz="2000" dirty="0" smtClean="0"/>
              <a:t>S</a:t>
            </a:r>
            <a:r>
              <a:rPr lang="en-US" sz="100" dirty="0" smtClean="0"/>
              <a:t> </a:t>
            </a:r>
            <a:r>
              <a:rPr lang="en-US" sz="2000" dirty="0" smtClean="0"/>
              <a:t>C</a:t>
            </a:r>
            <a:r>
              <a:rPr lang="en-US" sz="100" dirty="0" smtClean="0"/>
              <a:t> </a:t>
            </a:r>
            <a:r>
              <a:rPr lang="en-US" sz="2000" dirty="0" smtClean="0"/>
              <a:t>I</a:t>
            </a:r>
            <a:r>
              <a:rPr lang="en-US" sz="100" dirty="0" smtClean="0"/>
              <a:t> </a:t>
            </a:r>
            <a:r>
              <a:rPr lang="en-US" sz="2000" dirty="0" err="1" smtClean="0"/>
              <a:t>I</a:t>
            </a:r>
            <a:r>
              <a:rPr lang="en-US" sz="2000" dirty="0" smtClean="0"/>
              <a:t> text format</a:t>
            </a:r>
          </a:p>
          <a:p>
            <a:r>
              <a:rPr lang="en-US" sz="2000" dirty="0" smtClean="0"/>
              <a:t>Provides a number of new header fields that define information about the body of the message</a:t>
            </a:r>
            <a:endParaRPr lang="en-US" sz="2000" dirty="0"/>
          </a:p>
        </p:txBody>
      </p:sp>
      <p:sp>
        <p:nvSpPr>
          <p:cNvPr id="5" name="Content Placeholder 4"/>
          <p:cNvSpPr>
            <a:spLocks noGrp="1"/>
          </p:cNvSpPr>
          <p:nvPr>
            <p:ph sz="quarter" idx="14"/>
          </p:nvPr>
        </p:nvSpPr>
        <p:spPr>
          <a:xfrm>
            <a:off x="4434214" y="1700213"/>
            <a:ext cx="3784235" cy="4376737"/>
          </a:xfrm>
        </p:spPr>
        <p:txBody>
          <a:bodyPr/>
          <a:lstStyle/>
          <a:p>
            <a:pPr marL="432" indent="0">
              <a:buNone/>
            </a:pPr>
            <a:r>
              <a:rPr lang="en-US" sz="2000" b="1" dirty="0" smtClean="0"/>
              <a:t>S/M</a:t>
            </a:r>
            <a:r>
              <a:rPr lang="en-US" sz="100" b="1" dirty="0" smtClean="0"/>
              <a:t> </a:t>
            </a:r>
            <a:r>
              <a:rPr lang="en-US" sz="2000" b="1" dirty="0" smtClean="0"/>
              <a:t>I</a:t>
            </a:r>
            <a:r>
              <a:rPr lang="en-US" sz="100" b="1" dirty="0" smtClean="0"/>
              <a:t> </a:t>
            </a:r>
            <a:r>
              <a:rPr lang="en-US" sz="2000" b="1" dirty="0" smtClean="0"/>
              <a:t>M</a:t>
            </a:r>
            <a:r>
              <a:rPr lang="en-US" sz="100" b="1" dirty="0" smtClean="0"/>
              <a:t> </a:t>
            </a:r>
            <a:r>
              <a:rPr lang="en-US" sz="2000" b="1" dirty="0" smtClean="0"/>
              <a:t>E</a:t>
            </a:r>
          </a:p>
          <a:p>
            <a:r>
              <a:rPr lang="en-US" sz="2000" dirty="0" smtClean="0"/>
              <a:t>Secure/Multipurpose Internet Mail Extension</a:t>
            </a:r>
          </a:p>
          <a:p>
            <a:r>
              <a:rPr lang="en-US" sz="2000" dirty="0" smtClean="0"/>
              <a:t>Security enhancement to the M</a:t>
            </a:r>
            <a:r>
              <a:rPr lang="en-US" sz="100" dirty="0" smtClean="0"/>
              <a:t> </a:t>
            </a:r>
            <a:r>
              <a:rPr lang="en-US" sz="2000" dirty="0" smtClean="0"/>
              <a:t>I</a:t>
            </a:r>
            <a:r>
              <a:rPr lang="en-US" sz="100" dirty="0" smtClean="0"/>
              <a:t> </a:t>
            </a:r>
            <a:r>
              <a:rPr lang="en-US" sz="2000" dirty="0" smtClean="0"/>
              <a:t>M</a:t>
            </a:r>
            <a:r>
              <a:rPr lang="en-US" sz="100" dirty="0" smtClean="0"/>
              <a:t> </a:t>
            </a:r>
            <a:r>
              <a:rPr lang="en-US" sz="2000" dirty="0" smtClean="0"/>
              <a:t>E Internet e-mail format</a:t>
            </a:r>
          </a:p>
          <a:p>
            <a:pPr lvl="1"/>
            <a:r>
              <a:rPr lang="en-US" sz="2000" dirty="0" smtClean="0"/>
              <a:t>Based on technology from R</a:t>
            </a:r>
            <a:r>
              <a:rPr lang="en-US" sz="100" dirty="0" smtClean="0"/>
              <a:t> </a:t>
            </a:r>
            <a:r>
              <a:rPr lang="en-US" sz="2000" dirty="0" smtClean="0"/>
              <a:t>S</a:t>
            </a:r>
            <a:r>
              <a:rPr lang="en-US" sz="100" dirty="0" smtClean="0"/>
              <a:t> </a:t>
            </a:r>
            <a:r>
              <a:rPr lang="en-US" sz="2000" dirty="0" smtClean="0"/>
              <a:t>A Data Security</a:t>
            </a:r>
          </a:p>
          <a:p>
            <a:r>
              <a:rPr lang="en-US" sz="2000" dirty="0" smtClean="0"/>
              <a:t>Provides the ability to sign and/or encrypt e-mail messages</a:t>
            </a:r>
            <a:endParaRPr lang="en-US" sz="2000" dirty="0"/>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Table 22.1 S/M</a:t>
            </a:r>
            <a:r>
              <a:rPr lang="en-US" sz="100" dirty="0" smtClean="0"/>
              <a:t> </a:t>
            </a:r>
            <a:r>
              <a:rPr lang="en-US" dirty="0" smtClean="0"/>
              <a:t>I</a:t>
            </a:r>
            <a:r>
              <a:rPr lang="en-US" sz="100" dirty="0" smtClean="0"/>
              <a:t> </a:t>
            </a:r>
            <a:r>
              <a:rPr lang="en-US" dirty="0" smtClean="0"/>
              <a:t>M</a:t>
            </a:r>
            <a:r>
              <a:rPr lang="en-US" sz="100" dirty="0" smtClean="0"/>
              <a:t> </a:t>
            </a:r>
            <a:r>
              <a:rPr lang="en-US" dirty="0" smtClean="0"/>
              <a:t>E Content Types</a:t>
            </a:r>
            <a:endParaRPr lang="en-US" dirty="0"/>
          </a:p>
        </p:txBody>
      </p:sp>
      <p:graphicFrame>
        <p:nvGraphicFramePr>
          <p:cNvPr id="3" name="Content Placeholder 2"/>
          <p:cNvGraphicFramePr>
            <a:graphicFrameLocks noGrp="1"/>
          </p:cNvGraphicFramePr>
          <p:nvPr>
            <p:ph sz="quarter" idx="13"/>
            <p:extLst>
              <p:ext uri="{D42A27DB-BD31-4B8C-83A1-F6EECF244321}">
                <p14:modId xmlns:p14="http://schemas.microsoft.com/office/powerpoint/2010/main" val="3490698406"/>
              </p:ext>
            </p:extLst>
          </p:nvPr>
        </p:nvGraphicFramePr>
        <p:xfrm>
          <a:off x="457200" y="1555750"/>
          <a:ext cx="8360229" cy="3676248"/>
        </p:xfrm>
        <a:graphic>
          <a:graphicData uri="http://schemas.openxmlformats.org/drawingml/2006/table">
            <a:tbl>
              <a:tblPr firstRow="1" bandRow="1">
                <a:tableStyleId>{2D5ABB26-0587-4C30-8999-92F81FD0307C}</a:tableStyleId>
              </a:tblPr>
              <a:tblGrid>
                <a:gridCol w="1233814">
                  <a:extLst>
                    <a:ext uri="{9D8B030D-6E8A-4147-A177-3AD203B41FA5}">
                      <a16:colId xmlns:a16="http://schemas.microsoft.com/office/drawing/2014/main" val="1860000585"/>
                    </a:ext>
                  </a:extLst>
                </a:gridCol>
                <a:gridCol w="1718392">
                  <a:extLst>
                    <a:ext uri="{9D8B030D-6E8A-4147-A177-3AD203B41FA5}">
                      <a16:colId xmlns:a16="http://schemas.microsoft.com/office/drawing/2014/main" val="2427631236"/>
                    </a:ext>
                  </a:extLst>
                </a:gridCol>
                <a:gridCol w="2429691">
                  <a:extLst>
                    <a:ext uri="{9D8B030D-6E8A-4147-A177-3AD203B41FA5}">
                      <a16:colId xmlns:a16="http://schemas.microsoft.com/office/drawing/2014/main" val="3391550177"/>
                    </a:ext>
                  </a:extLst>
                </a:gridCol>
                <a:gridCol w="2978332">
                  <a:extLst>
                    <a:ext uri="{9D8B030D-6E8A-4147-A177-3AD203B41FA5}">
                      <a16:colId xmlns:a16="http://schemas.microsoft.com/office/drawing/2014/main" val="3678018406"/>
                    </a:ext>
                  </a:extLst>
                </a:gridCol>
              </a:tblGrid>
              <a:tr h="348206">
                <a:tc>
                  <a:txBody>
                    <a:bodyPr/>
                    <a:lstStyle/>
                    <a:p>
                      <a:pPr algn="l"/>
                      <a:r>
                        <a:rPr lang="en-IN" sz="1600" b="1" i="0" u="none" strike="noStrike" cap="none" baseline="0" dirty="0">
                          <a:solidFill>
                            <a:schemeClr val="tx1"/>
                          </a:solidFill>
                          <a:latin typeface="+mn-lt"/>
                          <a:ea typeface="+mn-ea"/>
                          <a:cs typeface="+mn-cs"/>
                          <a:sym typeface="Arial"/>
                        </a:rPr>
                        <a:t>Type</a:t>
                      </a:r>
                      <a:endParaRPr lang="en-IN"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b="1" i="0" u="none" strike="noStrike" cap="none" baseline="0" dirty="0">
                          <a:solidFill>
                            <a:schemeClr val="tx1"/>
                          </a:solidFill>
                          <a:latin typeface="+mn-lt"/>
                          <a:ea typeface="+mn-ea"/>
                          <a:cs typeface="+mn-cs"/>
                          <a:sym typeface="Arial"/>
                        </a:rPr>
                        <a:t>Subtype</a:t>
                      </a:r>
                      <a:endParaRPr lang="en-IN"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b="1" i="0" u="none" strike="noStrike" cap="none" baseline="0" dirty="0">
                          <a:solidFill>
                            <a:schemeClr val="tx1"/>
                          </a:solidFill>
                          <a:latin typeface="+mn-lt"/>
                          <a:ea typeface="+mn-ea"/>
                          <a:cs typeface="+mn-cs"/>
                          <a:sym typeface="Arial"/>
                        </a:rPr>
                        <a:t>S/M</a:t>
                      </a:r>
                      <a:r>
                        <a:rPr lang="en-IN" sz="100" b="1" i="0" u="none" strike="noStrike" cap="none" baseline="0" dirty="0">
                          <a:solidFill>
                            <a:schemeClr val="tx1"/>
                          </a:solidFill>
                          <a:latin typeface="+mn-lt"/>
                          <a:ea typeface="+mn-ea"/>
                          <a:cs typeface="+mn-cs"/>
                          <a:sym typeface="Arial"/>
                        </a:rPr>
                        <a:t> </a:t>
                      </a:r>
                      <a:r>
                        <a:rPr lang="en-IN" sz="1600" b="1" i="0" u="none" strike="noStrike" cap="none" baseline="0" dirty="0">
                          <a:solidFill>
                            <a:schemeClr val="tx1"/>
                          </a:solidFill>
                          <a:latin typeface="+mn-lt"/>
                          <a:ea typeface="+mn-ea"/>
                          <a:cs typeface="+mn-cs"/>
                          <a:sym typeface="Arial"/>
                        </a:rPr>
                        <a:t>I</a:t>
                      </a:r>
                      <a:r>
                        <a:rPr lang="en-IN" sz="100" b="1" i="0" u="none" strike="noStrike" cap="none" baseline="0" dirty="0">
                          <a:solidFill>
                            <a:schemeClr val="tx1"/>
                          </a:solidFill>
                          <a:latin typeface="+mn-lt"/>
                          <a:ea typeface="+mn-ea"/>
                          <a:cs typeface="+mn-cs"/>
                          <a:sym typeface="Arial"/>
                        </a:rPr>
                        <a:t> </a:t>
                      </a:r>
                      <a:r>
                        <a:rPr lang="en-IN" sz="1600" b="1" i="0" u="none" strike="noStrike" cap="none" baseline="0" dirty="0">
                          <a:solidFill>
                            <a:schemeClr val="tx1"/>
                          </a:solidFill>
                          <a:latin typeface="+mn-lt"/>
                          <a:ea typeface="+mn-ea"/>
                          <a:cs typeface="+mn-cs"/>
                          <a:sym typeface="Arial"/>
                        </a:rPr>
                        <a:t>M</a:t>
                      </a:r>
                      <a:r>
                        <a:rPr lang="en-IN" sz="100" b="1" i="0" u="none" strike="noStrike" cap="none" baseline="0" dirty="0">
                          <a:solidFill>
                            <a:schemeClr val="tx1"/>
                          </a:solidFill>
                          <a:latin typeface="+mn-lt"/>
                          <a:ea typeface="+mn-ea"/>
                          <a:cs typeface="+mn-cs"/>
                          <a:sym typeface="Arial"/>
                        </a:rPr>
                        <a:t> </a:t>
                      </a:r>
                      <a:r>
                        <a:rPr lang="en-IN" sz="1600" b="1" i="0" u="none" strike="noStrike" cap="none" baseline="0" dirty="0">
                          <a:solidFill>
                            <a:schemeClr val="tx1"/>
                          </a:solidFill>
                          <a:latin typeface="+mn-lt"/>
                          <a:ea typeface="+mn-ea"/>
                          <a:cs typeface="+mn-cs"/>
                          <a:sym typeface="Arial"/>
                        </a:rPr>
                        <a:t>E Parameter</a:t>
                      </a:r>
                      <a:endParaRPr lang="en-IN"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b="1" i="0" u="none" strike="noStrike" cap="none" baseline="0" dirty="0">
                          <a:solidFill>
                            <a:schemeClr val="tx1"/>
                          </a:solidFill>
                          <a:latin typeface="+mn-lt"/>
                          <a:ea typeface="+mn-ea"/>
                          <a:cs typeface="+mn-cs"/>
                          <a:sym typeface="Arial"/>
                        </a:rPr>
                        <a:t>Description</a:t>
                      </a:r>
                      <a:endParaRPr lang="en-IN"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9184883"/>
                  </a:ext>
                </a:extLst>
              </a:tr>
              <a:tr h="598686">
                <a:tc>
                  <a:txBody>
                    <a:bodyPr/>
                    <a:lstStyle/>
                    <a:p>
                      <a:r>
                        <a:rPr lang="en-IN" sz="1600" b="0" i="0" u="none" strike="noStrike" cap="none" baseline="0" dirty="0">
                          <a:solidFill>
                            <a:schemeClr val="tx1"/>
                          </a:solidFill>
                          <a:latin typeface="+mn-lt"/>
                          <a:ea typeface="+mn-ea"/>
                          <a:cs typeface="+mn-cs"/>
                          <a:sym typeface="Arial"/>
                        </a:rPr>
                        <a:t>Multipart</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Signed</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dirty="0">
                          <a:latin typeface="+mn-lt"/>
                        </a:rPr>
                        <a:t>Blank</a:t>
                      </a:r>
                      <a:endParaRPr lang="en-IN" sz="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A clear-signed message in two parts: one is the message and the other is the signature.</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496315"/>
                  </a:ext>
                </a:extLst>
              </a:tr>
              <a:tr h="369369">
                <a:tc>
                  <a:txBody>
                    <a:bodyPr/>
                    <a:lstStyle/>
                    <a:p>
                      <a:r>
                        <a:rPr lang="en-IN" sz="1600" b="0" i="0" u="none" strike="noStrike" cap="none" baseline="0" dirty="0">
                          <a:solidFill>
                            <a:schemeClr val="tx1"/>
                          </a:solidFill>
                          <a:latin typeface="+mn-lt"/>
                          <a:ea typeface="+mn-ea"/>
                          <a:cs typeface="+mn-cs"/>
                          <a:sym typeface="Arial"/>
                        </a:rPr>
                        <a:t>Application</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p</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k</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c</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s7-mime</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signed</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Data</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A signed S/M</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I</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M</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E entity</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6436626"/>
                  </a:ext>
                </a:extLst>
              </a:tr>
              <a:tr h="368212">
                <a:tc>
                  <a:txBody>
                    <a:bodyPr/>
                    <a:lstStyle/>
                    <a:p>
                      <a:r>
                        <a:rPr lang="en-IN" sz="100" b="0" i="0" u="none" strike="noStrike" cap="none" baseline="0" dirty="0" smtClean="0">
                          <a:solidFill>
                            <a:schemeClr val="tx1"/>
                          </a:solidFill>
                          <a:latin typeface="+mn-lt"/>
                          <a:ea typeface="+mn-ea"/>
                          <a:cs typeface="+mn-cs"/>
                          <a:sym typeface="Arial"/>
                        </a:rPr>
                        <a:t>Application</a:t>
                      </a:r>
                      <a:endParaRPr lang="en-IN" sz="100"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p</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k</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c</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s7-mime</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enveloped</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Data</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An encrypted S/M</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I</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M</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E entity</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7508979"/>
                  </a:ext>
                </a:extLst>
              </a:tr>
              <a:tr h="598686">
                <a:tc>
                  <a:txBody>
                    <a:bodyPr/>
                    <a:lstStyle/>
                    <a:p>
                      <a:r>
                        <a:rPr lang="en-IN" sz="100" b="0" i="0" u="none" strike="noStrike" cap="none" baseline="0" dirty="0" smtClean="0">
                          <a:solidFill>
                            <a:schemeClr val="tx1"/>
                          </a:solidFill>
                          <a:latin typeface="+mn-lt"/>
                          <a:ea typeface="+mn-ea"/>
                          <a:cs typeface="+mn-cs"/>
                          <a:sym typeface="Arial"/>
                        </a:rPr>
                        <a:t>Application</a:t>
                      </a:r>
                      <a:endParaRPr lang="en-IN" sz="100"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p</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k</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c</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s7-mime</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degenerate signed</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Data</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An entity containing only public-key certificates</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2143513"/>
                  </a:ext>
                </a:extLst>
              </a:tr>
              <a:tr h="345855">
                <a:tc>
                  <a:txBody>
                    <a:bodyPr/>
                    <a:lstStyle/>
                    <a:p>
                      <a:r>
                        <a:rPr lang="en-IN" sz="100" b="0" i="0" u="none" strike="noStrike" cap="none" baseline="0" dirty="0" smtClean="0">
                          <a:solidFill>
                            <a:schemeClr val="tx1"/>
                          </a:solidFill>
                          <a:latin typeface="+mn-lt"/>
                          <a:ea typeface="+mn-ea"/>
                          <a:cs typeface="+mn-cs"/>
                          <a:sym typeface="Arial"/>
                        </a:rPr>
                        <a:t>Application</a:t>
                      </a:r>
                      <a:endParaRPr lang="en-IN" sz="100"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p</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k</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c</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s7-mime</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Compressed</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Data</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A compressed S/M</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I</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M</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E entity</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365660"/>
                  </a:ext>
                </a:extLst>
              </a:tr>
              <a:tr h="598686">
                <a:tc>
                  <a:txBody>
                    <a:bodyPr/>
                    <a:lstStyle/>
                    <a:p>
                      <a:r>
                        <a:rPr lang="en-IN" sz="100" b="0" i="0" u="none" strike="noStrike" cap="none" baseline="0" dirty="0" smtClean="0">
                          <a:solidFill>
                            <a:schemeClr val="tx1"/>
                          </a:solidFill>
                          <a:latin typeface="+mn-lt"/>
                          <a:ea typeface="+mn-ea"/>
                          <a:cs typeface="+mn-cs"/>
                          <a:sym typeface="Arial"/>
                        </a:rPr>
                        <a:t>Application</a:t>
                      </a:r>
                      <a:endParaRPr lang="en-IN" sz="100"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p</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k</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c</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s7-signature</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signed</a:t>
                      </a:r>
                      <a:r>
                        <a:rPr lang="en-IN" sz="100" b="0" i="0" u="none" strike="noStrike" cap="none" baseline="0" dirty="0">
                          <a:solidFill>
                            <a:schemeClr val="tx1"/>
                          </a:solidFill>
                          <a:latin typeface="+mn-lt"/>
                          <a:ea typeface="+mn-ea"/>
                          <a:cs typeface="+mn-cs"/>
                          <a:sym typeface="Arial"/>
                        </a:rPr>
                        <a:t> </a:t>
                      </a:r>
                      <a:r>
                        <a:rPr lang="en-IN" sz="1600" b="0" i="0" u="none" strike="noStrike" cap="none" baseline="0" dirty="0">
                          <a:solidFill>
                            <a:schemeClr val="tx1"/>
                          </a:solidFill>
                          <a:latin typeface="+mn-lt"/>
                          <a:ea typeface="+mn-ea"/>
                          <a:cs typeface="+mn-cs"/>
                          <a:sym typeface="Arial"/>
                        </a:rPr>
                        <a:t>Data</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The content type of the signature subpart of a multipart/signed message</a:t>
                      </a:r>
                      <a:endParaRPr lang="en-IN"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8189219"/>
                  </a:ext>
                </a:extLst>
              </a:tr>
            </a:tbl>
          </a:graphicData>
        </a:graphic>
      </p:graphicFrame>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S/M</a:t>
            </a:r>
            <a:r>
              <a:rPr lang="en-US" sz="100" dirty="0" smtClean="0"/>
              <a:t> </a:t>
            </a:r>
            <a:r>
              <a:rPr lang="en-US" dirty="0" smtClean="0"/>
              <a:t>I</a:t>
            </a:r>
            <a:r>
              <a:rPr lang="en-US" sz="100" dirty="0" smtClean="0"/>
              <a:t> </a:t>
            </a:r>
            <a:r>
              <a:rPr lang="en-US" dirty="0" smtClean="0"/>
              <a:t>M</a:t>
            </a:r>
            <a:r>
              <a:rPr lang="en-US" sz="100" dirty="0" smtClean="0"/>
              <a:t> </a:t>
            </a:r>
            <a:r>
              <a:rPr lang="en-US" dirty="0" smtClean="0"/>
              <a:t>E Functions</a:t>
            </a:r>
            <a:endParaRPr lang="en-US" dirty="0"/>
          </a:p>
        </p:txBody>
      </p:sp>
      <p:sp>
        <p:nvSpPr>
          <p:cNvPr id="3" name="Content Placeholder 2"/>
          <p:cNvSpPr>
            <a:spLocks noGrp="1"/>
          </p:cNvSpPr>
          <p:nvPr>
            <p:ph sz="quarter" idx="13"/>
          </p:nvPr>
        </p:nvSpPr>
        <p:spPr/>
        <p:txBody>
          <a:bodyPr/>
          <a:lstStyle/>
          <a:p>
            <a:r>
              <a:rPr lang="en-US" dirty="0" smtClean="0"/>
              <a:t>Enveloped data</a:t>
            </a:r>
          </a:p>
          <a:p>
            <a:pPr lvl="1"/>
            <a:r>
              <a:rPr lang="en-US" dirty="0" smtClean="0"/>
              <a:t>Encrypted content and associated keys</a:t>
            </a:r>
          </a:p>
          <a:p>
            <a:r>
              <a:rPr lang="en-US" dirty="0" smtClean="0"/>
              <a:t>Signed data</a:t>
            </a:r>
          </a:p>
          <a:p>
            <a:pPr lvl="1"/>
            <a:r>
              <a:rPr lang="en-US" dirty="0" smtClean="0"/>
              <a:t>Encoded message + signed digest</a:t>
            </a:r>
          </a:p>
          <a:p>
            <a:r>
              <a:rPr lang="en-US" dirty="0" smtClean="0"/>
              <a:t>Clear-signed data</a:t>
            </a:r>
          </a:p>
          <a:p>
            <a:pPr lvl="1"/>
            <a:r>
              <a:rPr lang="en-US" dirty="0" err="1" smtClean="0"/>
              <a:t>Cleartext</a:t>
            </a:r>
            <a:r>
              <a:rPr lang="en-US" dirty="0" smtClean="0"/>
              <a:t> message + encoded signed digest</a:t>
            </a:r>
          </a:p>
          <a:p>
            <a:r>
              <a:rPr lang="en-US" dirty="0" smtClean="0"/>
              <a:t>Signed and enveloped data</a:t>
            </a:r>
          </a:p>
          <a:p>
            <a:pPr lvl="1"/>
            <a:r>
              <a:rPr lang="en-US" dirty="0" smtClean="0"/>
              <a:t>Nesting of signed and encrypted entities</a:t>
            </a:r>
            <a:endParaRPr lang="en-US" dirty="0"/>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C5C523B-EC9B-48D2-9F2E-8D590F819918}"/>
              </a:ext>
            </a:extLst>
          </p:cNvPr>
          <p:cNvSpPr>
            <a:spLocks noGrp="1"/>
          </p:cNvSpPr>
          <p:nvPr>
            <p:ph type="title"/>
          </p:nvPr>
        </p:nvSpPr>
        <p:spPr>
          <a:xfrm>
            <a:off x="457200" y="215371"/>
            <a:ext cx="7837714" cy="1097279"/>
          </a:xfrm>
        </p:spPr>
        <p:txBody>
          <a:bodyPr/>
          <a:lstStyle/>
          <a:p>
            <a:r>
              <a:rPr lang="en-US" sz="3200" dirty="0" smtClean="0"/>
              <a:t>Figure 22.1 Simplified S/M</a:t>
            </a:r>
            <a:r>
              <a:rPr lang="en-US" sz="100" dirty="0" smtClean="0"/>
              <a:t> </a:t>
            </a:r>
            <a:r>
              <a:rPr lang="en-US" sz="3200" dirty="0" smtClean="0"/>
              <a:t>I</a:t>
            </a:r>
            <a:r>
              <a:rPr lang="en-US" sz="100" dirty="0" smtClean="0"/>
              <a:t> </a:t>
            </a:r>
            <a:r>
              <a:rPr lang="en-US" sz="3200" dirty="0" smtClean="0"/>
              <a:t>M</a:t>
            </a:r>
            <a:r>
              <a:rPr lang="en-US" sz="100" dirty="0" smtClean="0"/>
              <a:t> </a:t>
            </a:r>
            <a:r>
              <a:rPr lang="en-US" sz="3200" dirty="0" smtClean="0"/>
              <a:t>E Functional Flow</a:t>
            </a:r>
            <a:endParaRPr lang="en-US" sz="3200" dirty="0"/>
          </a:p>
        </p:txBody>
      </p:sp>
      <p:pic>
        <p:nvPicPr>
          <p:cNvPr id="3" name="Content Placeholder 2" descr="Two illustrations, a and b, depict Simplified S Slash M I M E function.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712684" y="1562440"/>
            <a:ext cx="3718633" cy="4726893"/>
          </a:xfrm>
        </p:spPr>
      </p:pic>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Signed and Clear-Signed Data</a:t>
            </a:r>
            <a:endParaRPr lang="en-US" dirty="0"/>
          </a:p>
        </p:txBody>
      </p:sp>
      <p:sp>
        <p:nvSpPr>
          <p:cNvPr id="3" name="Content Placeholder 2"/>
          <p:cNvSpPr>
            <a:spLocks noGrp="1"/>
          </p:cNvSpPr>
          <p:nvPr>
            <p:ph sz="quarter" idx="13"/>
          </p:nvPr>
        </p:nvSpPr>
        <p:spPr>
          <a:xfrm>
            <a:off x="457199" y="1556327"/>
            <a:ext cx="8586317" cy="4603314"/>
          </a:xfrm>
        </p:spPr>
        <p:txBody>
          <a:bodyPr/>
          <a:lstStyle/>
          <a:p>
            <a:pPr>
              <a:spcBef>
                <a:spcPts val="600"/>
              </a:spcBef>
            </a:pPr>
            <a:r>
              <a:rPr lang="en-US" sz="1800" dirty="0" smtClean="0"/>
              <a:t>The preferred algorithms used for signing S/M</a:t>
            </a:r>
            <a:r>
              <a:rPr lang="en-US" sz="100" dirty="0" smtClean="0"/>
              <a:t> </a:t>
            </a:r>
            <a:r>
              <a:rPr lang="en-US" sz="1800" dirty="0" smtClean="0"/>
              <a:t>I</a:t>
            </a:r>
            <a:r>
              <a:rPr lang="en-US" sz="100" dirty="0" smtClean="0"/>
              <a:t> </a:t>
            </a:r>
            <a:r>
              <a:rPr lang="en-US" sz="1800" dirty="0" smtClean="0"/>
              <a:t>M</a:t>
            </a:r>
            <a:r>
              <a:rPr lang="en-US" sz="100" dirty="0" smtClean="0"/>
              <a:t> </a:t>
            </a:r>
            <a:r>
              <a:rPr lang="en-US" sz="1800" dirty="0" smtClean="0"/>
              <a:t>E messages use either an R</a:t>
            </a:r>
            <a:r>
              <a:rPr lang="en-US" sz="100" dirty="0" smtClean="0"/>
              <a:t> </a:t>
            </a:r>
            <a:r>
              <a:rPr lang="en-US" sz="1800" dirty="0" smtClean="0"/>
              <a:t>S</a:t>
            </a:r>
            <a:r>
              <a:rPr lang="en-US" sz="100" dirty="0" smtClean="0"/>
              <a:t> </a:t>
            </a:r>
            <a:r>
              <a:rPr lang="en-US" sz="1800" dirty="0" smtClean="0"/>
              <a:t>A or a D</a:t>
            </a:r>
            <a:r>
              <a:rPr lang="en-US" sz="100" dirty="0" smtClean="0"/>
              <a:t> </a:t>
            </a:r>
            <a:r>
              <a:rPr lang="en-US" sz="1800" dirty="0" smtClean="0"/>
              <a:t>S</a:t>
            </a:r>
            <a:r>
              <a:rPr lang="en-US" sz="100" dirty="0" smtClean="0"/>
              <a:t> </a:t>
            </a:r>
            <a:r>
              <a:rPr lang="en-US" sz="1800" dirty="0" smtClean="0"/>
              <a:t>A signature of a S</a:t>
            </a:r>
            <a:r>
              <a:rPr lang="en-US" sz="100" dirty="0" smtClean="0"/>
              <a:t> </a:t>
            </a:r>
            <a:r>
              <a:rPr lang="en-US" sz="1800" dirty="0" smtClean="0"/>
              <a:t>H</a:t>
            </a:r>
            <a:r>
              <a:rPr lang="en-US" sz="100" dirty="0" smtClean="0"/>
              <a:t> </a:t>
            </a:r>
            <a:r>
              <a:rPr lang="en-US" sz="1800" dirty="0" smtClean="0"/>
              <a:t>A-256 message hash</a:t>
            </a:r>
          </a:p>
          <a:p>
            <a:pPr>
              <a:spcBef>
                <a:spcPts val="600"/>
              </a:spcBef>
            </a:pPr>
            <a:r>
              <a:rPr lang="en-US" sz="1800" dirty="0" smtClean="0"/>
              <a:t>The process works as follows:</a:t>
            </a:r>
          </a:p>
          <a:p>
            <a:pPr lvl="1"/>
            <a:r>
              <a:rPr lang="en-US" sz="1800" dirty="0" smtClean="0"/>
              <a:t>Take the message you want to send and map it into a fixed-length code of 256 bits using S</a:t>
            </a:r>
            <a:r>
              <a:rPr lang="en-US" sz="100" dirty="0" smtClean="0"/>
              <a:t> </a:t>
            </a:r>
            <a:r>
              <a:rPr lang="en-US" sz="1800" dirty="0" smtClean="0"/>
              <a:t>H</a:t>
            </a:r>
            <a:r>
              <a:rPr lang="en-US" sz="100" dirty="0" smtClean="0"/>
              <a:t> </a:t>
            </a:r>
            <a:r>
              <a:rPr lang="en-US" sz="1800" dirty="0" smtClean="0"/>
              <a:t>A-256</a:t>
            </a:r>
          </a:p>
          <a:p>
            <a:pPr lvl="1"/>
            <a:r>
              <a:rPr lang="en-US" sz="1800" dirty="0" smtClean="0"/>
              <a:t>The 256-bit message digest is unique for this message making it virtually impossible for someone to alter this message or substitute another message and still come up with the same digest</a:t>
            </a:r>
          </a:p>
          <a:p>
            <a:pPr lvl="1"/>
            <a:r>
              <a:rPr lang="en-US" sz="1800" dirty="0" smtClean="0"/>
              <a:t>S/M</a:t>
            </a:r>
            <a:r>
              <a:rPr lang="en-US" sz="100" dirty="0" smtClean="0"/>
              <a:t> </a:t>
            </a:r>
            <a:r>
              <a:rPr lang="en-US" sz="1800" dirty="0" smtClean="0"/>
              <a:t>I</a:t>
            </a:r>
            <a:r>
              <a:rPr lang="en-US" sz="100" dirty="0" smtClean="0"/>
              <a:t> </a:t>
            </a:r>
            <a:r>
              <a:rPr lang="en-US" sz="1800" dirty="0" smtClean="0"/>
              <a:t>M</a:t>
            </a:r>
            <a:r>
              <a:rPr lang="en-US" sz="100" dirty="0" smtClean="0"/>
              <a:t> </a:t>
            </a:r>
            <a:r>
              <a:rPr lang="en-US" sz="1800" dirty="0" smtClean="0"/>
              <a:t>E encrypts the digest using R</a:t>
            </a:r>
            <a:r>
              <a:rPr lang="en-US" sz="100" dirty="0" smtClean="0"/>
              <a:t> </a:t>
            </a:r>
            <a:r>
              <a:rPr lang="en-US" sz="1800" dirty="0" smtClean="0"/>
              <a:t>S</a:t>
            </a:r>
            <a:r>
              <a:rPr lang="en-US" sz="100" dirty="0" smtClean="0"/>
              <a:t> </a:t>
            </a:r>
            <a:r>
              <a:rPr lang="en-US" sz="1800" dirty="0" smtClean="0"/>
              <a:t>A and the sender’s private R</a:t>
            </a:r>
            <a:r>
              <a:rPr lang="en-US" sz="100" dirty="0" smtClean="0"/>
              <a:t> </a:t>
            </a:r>
            <a:r>
              <a:rPr lang="en-US" sz="1800" dirty="0" smtClean="0"/>
              <a:t>S</a:t>
            </a:r>
            <a:r>
              <a:rPr lang="en-US" sz="100" dirty="0" smtClean="0"/>
              <a:t> </a:t>
            </a:r>
            <a:r>
              <a:rPr lang="en-US" sz="1800" dirty="0" smtClean="0"/>
              <a:t>A key</a:t>
            </a:r>
          </a:p>
          <a:p>
            <a:pPr lvl="1"/>
            <a:r>
              <a:rPr lang="en-US" sz="1800" dirty="0" smtClean="0"/>
              <a:t>The result is the digital signature, which is attached to the message</a:t>
            </a:r>
          </a:p>
          <a:p>
            <a:pPr lvl="1"/>
            <a:r>
              <a:rPr lang="en-US" sz="1800" dirty="0" smtClean="0"/>
              <a:t>Now, anyone who gets the message can </a:t>
            </a:r>
            <a:r>
              <a:rPr lang="en-US" sz="1800" dirty="0" err="1" smtClean="0"/>
              <a:t>recompute</a:t>
            </a:r>
            <a:r>
              <a:rPr lang="en-US" sz="1800" dirty="0" smtClean="0"/>
              <a:t> the message digest then decrypt the signature using R</a:t>
            </a:r>
            <a:r>
              <a:rPr lang="en-US" sz="100" dirty="0" smtClean="0"/>
              <a:t> </a:t>
            </a:r>
            <a:r>
              <a:rPr lang="en-US" sz="1800" dirty="0" smtClean="0"/>
              <a:t>S</a:t>
            </a:r>
            <a:r>
              <a:rPr lang="en-US" sz="100" dirty="0" smtClean="0"/>
              <a:t> </a:t>
            </a:r>
            <a:r>
              <a:rPr lang="en-US" sz="1800" dirty="0" smtClean="0"/>
              <a:t>A and the sender’s public R</a:t>
            </a:r>
            <a:r>
              <a:rPr lang="en-US" sz="100" dirty="0" smtClean="0"/>
              <a:t> </a:t>
            </a:r>
            <a:r>
              <a:rPr lang="en-US" sz="1800" dirty="0" smtClean="0"/>
              <a:t>S</a:t>
            </a:r>
            <a:r>
              <a:rPr lang="en-US" sz="100" dirty="0" smtClean="0"/>
              <a:t> </a:t>
            </a:r>
            <a:r>
              <a:rPr lang="en-US" sz="1800" dirty="0" smtClean="0"/>
              <a:t>A key</a:t>
            </a:r>
          </a:p>
          <a:p>
            <a:pPr lvl="1"/>
            <a:r>
              <a:rPr lang="en-US" sz="1800" dirty="0" smtClean="0"/>
              <a:t>Since this operation only involves encrypting and decrypting a 256-bit block, it takes up little time</a:t>
            </a:r>
            <a:endParaRPr lang="en-US" sz="1800" dirty="0"/>
          </a:p>
        </p:txBody>
      </p:sp>
    </p:spTree>
    <p:extLst>
      <p:ext uri="{BB962C8B-B14F-4D97-AF65-F5344CB8AC3E}">
        <p14:creationId xmlns:p14="http://schemas.microsoft.com/office/powerpoint/2010/main" val="28984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Enveloped Data</a:t>
            </a:r>
            <a:endParaRPr lang="en-US" dirty="0"/>
          </a:p>
        </p:txBody>
      </p:sp>
      <p:sp>
        <p:nvSpPr>
          <p:cNvPr id="3" name="Content Placeholder 2"/>
          <p:cNvSpPr>
            <a:spLocks noGrp="1"/>
          </p:cNvSpPr>
          <p:nvPr>
            <p:ph sz="quarter" idx="13"/>
          </p:nvPr>
        </p:nvSpPr>
        <p:spPr>
          <a:xfrm>
            <a:off x="457199" y="1556326"/>
            <a:ext cx="8214528" cy="4788912"/>
          </a:xfrm>
        </p:spPr>
        <p:txBody>
          <a:bodyPr/>
          <a:lstStyle/>
          <a:p>
            <a:r>
              <a:rPr lang="en-US" sz="1800" dirty="0" smtClean="0"/>
              <a:t>Default algorithms used for encrypting S/M</a:t>
            </a:r>
            <a:r>
              <a:rPr lang="en-US" sz="100" dirty="0" smtClean="0"/>
              <a:t> </a:t>
            </a:r>
            <a:r>
              <a:rPr lang="en-US" sz="1800" dirty="0" smtClean="0"/>
              <a:t>I</a:t>
            </a:r>
            <a:r>
              <a:rPr lang="en-US" sz="100" dirty="0" smtClean="0"/>
              <a:t> </a:t>
            </a:r>
            <a:r>
              <a:rPr lang="en-US" sz="1800" dirty="0" smtClean="0"/>
              <a:t>M</a:t>
            </a:r>
            <a:r>
              <a:rPr lang="en-US" sz="100" dirty="0" smtClean="0"/>
              <a:t> </a:t>
            </a:r>
            <a:r>
              <a:rPr lang="en-US" sz="1800" dirty="0" smtClean="0"/>
              <a:t>E messages are A</a:t>
            </a:r>
            <a:r>
              <a:rPr lang="en-US" sz="100" dirty="0" smtClean="0"/>
              <a:t> </a:t>
            </a:r>
            <a:r>
              <a:rPr lang="en-US" sz="1800" dirty="0" smtClean="0"/>
              <a:t>E</a:t>
            </a:r>
            <a:r>
              <a:rPr lang="en-US" sz="100" dirty="0" smtClean="0"/>
              <a:t> </a:t>
            </a:r>
            <a:r>
              <a:rPr lang="en-US" sz="1800" dirty="0" smtClean="0"/>
              <a:t>S and R</a:t>
            </a:r>
            <a:r>
              <a:rPr lang="en-US" sz="100" dirty="0" smtClean="0"/>
              <a:t> </a:t>
            </a:r>
            <a:r>
              <a:rPr lang="en-US" sz="1800" dirty="0" smtClean="0"/>
              <a:t>S</a:t>
            </a:r>
            <a:r>
              <a:rPr lang="en-US" sz="100" dirty="0" smtClean="0"/>
              <a:t> </a:t>
            </a:r>
            <a:r>
              <a:rPr lang="en-US" sz="1800" dirty="0" smtClean="0"/>
              <a:t>A</a:t>
            </a:r>
          </a:p>
          <a:p>
            <a:pPr lvl="1"/>
            <a:r>
              <a:rPr lang="en-US" sz="1800" dirty="0" smtClean="0"/>
              <a:t>S/M</a:t>
            </a:r>
            <a:r>
              <a:rPr lang="en-US" sz="100" dirty="0" smtClean="0"/>
              <a:t> </a:t>
            </a:r>
            <a:r>
              <a:rPr lang="en-US" sz="1800" dirty="0" smtClean="0"/>
              <a:t>I</a:t>
            </a:r>
            <a:r>
              <a:rPr lang="en-US" sz="100" dirty="0" smtClean="0"/>
              <a:t> </a:t>
            </a:r>
            <a:r>
              <a:rPr lang="en-US" sz="1800" dirty="0" smtClean="0"/>
              <a:t>M</a:t>
            </a:r>
            <a:r>
              <a:rPr lang="en-US" sz="100" dirty="0" smtClean="0"/>
              <a:t> </a:t>
            </a:r>
            <a:r>
              <a:rPr lang="en-US" sz="1800" dirty="0" smtClean="0"/>
              <a:t>E generates a pseudorandom secret key that is used to encrypt the message using A</a:t>
            </a:r>
            <a:r>
              <a:rPr lang="en-US" sz="100" dirty="0" smtClean="0"/>
              <a:t> </a:t>
            </a:r>
            <a:r>
              <a:rPr lang="en-US" sz="1800" dirty="0" smtClean="0"/>
              <a:t>E</a:t>
            </a:r>
            <a:r>
              <a:rPr lang="en-US" sz="100" dirty="0" smtClean="0"/>
              <a:t> </a:t>
            </a:r>
            <a:r>
              <a:rPr lang="en-US" sz="1800" dirty="0" smtClean="0"/>
              <a:t>S or some other conventional encryption scheme</a:t>
            </a:r>
          </a:p>
          <a:p>
            <a:pPr lvl="1"/>
            <a:r>
              <a:rPr lang="en-US" sz="1800" dirty="0" smtClean="0"/>
              <a:t>A new pseudorandom key is generated for each new message encryption</a:t>
            </a:r>
          </a:p>
          <a:p>
            <a:pPr lvl="1"/>
            <a:r>
              <a:rPr lang="en-US" sz="1800" dirty="0" smtClean="0"/>
              <a:t>This session key is bound to the message and transmitted with it</a:t>
            </a:r>
          </a:p>
          <a:p>
            <a:pPr lvl="1"/>
            <a:r>
              <a:rPr lang="en-US" sz="1800" dirty="0" smtClean="0"/>
              <a:t>The secret key is used as input to the public-key encryption algorithm, R</a:t>
            </a:r>
            <a:r>
              <a:rPr lang="en-US" sz="100" dirty="0" smtClean="0"/>
              <a:t> </a:t>
            </a:r>
            <a:r>
              <a:rPr lang="en-US" sz="1800" dirty="0" smtClean="0"/>
              <a:t>S</a:t>
            </a:r>
            <a:r>
              <a:rPr lang="en-US" sz="100" dirty="0" smtClean="0"/>
              <a:t> </a:t>
            </a:r>
            <a:r>
              <a:rPr lang="en-US" sz="1800" dirty="0" smtClean="0"/>
              <a:t>A, which encrypts the key with the recipient’s public R</a:t>
            </a:r>
            <a:r>
              <a:rPr lang="en-US" sz="100" dirty="0" smtClean="0"/>
              <a:t> </a:t>
            </a:r>
            <a:r>
              <a:rPr lang="en-US" sz="1800" dirty="0" smtClean="0"/>
              <a:t>S</a:t>
            </a:r>
            <a:r>
              <a:rPr lang="en-US" sz="100" dirty="0" smtClean="0"/>
              <a:t> </a:t>
            </a:r>
            <a:r>
              <a:rPr lang="en-US" sz="1800" dirty="0" smtClean="0"/>
              <a:t>A key</a:t>
            </a:r>
          </a:p>
          <a:p>
            <a:pPr lvl="1"/>
            <a:r>
              <a:rPr lang="en-US" sz="1800" dirty="0" smtClean="0"/>
              <a:t>On the receiving end, S/M</a:t>
            </a:r>
            <a:r>
              <a:rPr lang="en-US" sz="100" dirty="0" smtClean="0"/>
              <a:t> </a:t>
            </a:r>
            <a:r>
              <a:rPr lang="en-US" sz="1800" dirty="0" smtClean="0"/>
              <a:t>I</a:t>
            </a:r>
            <a:r>
              <a:rPr lang="en-US" sz="100" dirty="0" smtClean="0"/>
              <a:t> </a:t>
            </a:r>
            <a:r>
              <a:rPr lang="en-US" sz="1800" dirty="0" smtClean="0"/>
              <a:t>M</a:t>
            </a:r>
            <a:r>
              <a:rPr lang="en-US" sz="100" dirty="0" smtClean="0"/>
              <a:t> </a:t>
            </a:r>
            <a:r>
              <a:rPr lang="en-US" sz="1800" dirty="0" smtClean="0"/>
              <a:t>E uses the receiver's private R</a:t>
            </a:r>
            <a:r>
              <a:rPr lang="en-US" sz="100" dirty="0" smtClean="0"/>
              <a:t> </a:t>
            </a:r>
            <a:r>
              <a:rPr lang="en-US" sz="1800" dirty="0" smtClean="0"/>
              <a:t>S</a:t>
            </a:r>
            <a:r>
              <a:rPr lang="en-US" sz="100" dirty="0" smtClean="0"/>
              <a:t> </a:t>
            </a:r>
            <a:r>
              <a:rPr lang="en-US" sz="1800" dirty="0" smtClean="0"/>
              <a:t>A key to recover the secret key, then uses the secret key and A</a:t>
            </a:r>
            <a:r>
              <a:rPr lang="en-US" sz="100" dirty="0" smtClean="0"/>
              <a:t> </a:t>
            </a:r>
            <a:r>
              <a:rPr lang="en-US" sz="1800" dirty="0" smtClean="0"/>
              <a:t>E</a:t>
            </a:r>
            <a:r>
              <a:rPr lang="en-US" sz="100" dirty="0" smtClean="0"/>
              <a:t> </a:t>
            </a:r>
            <a:r>
              <a:rPr lang="en-US" sz="1800" dirty="0" smtClean="0"/>
              <a:t>S to recover the plaintext message</a:t>
            </a:r>
          </a:p>
          <a:p>
            <a:pPr lvl="1"/>
            <a:r>
              <a:rPr lang="en-US" sz="1800" dirty="0" smtClean="0"/>
              <a:t>If encryption is used alone, radix-64 is used to convert the </a:t>
            </a:r>
            <a:r>
              <a:rPr lang="en-US" sz="1800" dirty="0" err="1" smtClean="0"/>
              <a:t>ciphertext</a:t>
            </a:r>
            <a:r>
              <a:rPr lang="en-US" sz="1800" dirty="0" smtClean="0"/>
              <a:t> to ASCII format</a:t>
            </a:r>
            <a:endParaRPr lang="en-US" sz="1800" dirty="0"/>
          </a:p>
        </p:txBody>
      </p:sp>
    </p:spTree>
    <p:extLst>
      <p:ext uri="{BB962C8B-B14F-4D97-AF65-F5344CB8AC3E}">
        <p14:creationId xmlns:p14="http://schemas.microsoft.com/office/powerpoint/2010/main" val="208042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DomainKeys</a:t>
            </a:r>
            <a:r>
              <a:rPr lang="en-US" dirty="0" smtClean="0"/>
              <a:t> Identified Mail (D</a:t>
            </a:r>
            <a:r>
              <a:rPr lang="en-US" sz="100" dirty="0" smtClean="0"/>
              <a:t> </a:t>
            </a:r>
            <a:r>
              <a:rPr lang="en-US" dirty="0" smtClean="0"/>
              <a:t>K</a:t>
            </a:r>
            <a:r>
              <a:rPr lang="en-US" sz="100" dirty="0" smtClean="0"/>
              <a:t> </a:t>
            </a:r>
            <a:r>
              <a:rPr lang="en-US" dirty="0" smtClean="0"/>
              <a:t>I</a:t>
            </a:r>
            <a:r>
              <a:rPr lang="en-US" sz="100" dirty="0" smtClean="0"/>
              <a:t> </a:t>
            </a:r>
            <a:r>
              <a:rPr lang="en-US" dirty="0" smtClean="0"/>
              <a:t>M)</a:t>
            </a:r>
            <a:endParaRPr lang="en-US" dirty="0"/>
          </a:p>
        </p:txBody>
      </p:sp>
      <p:sp>
        <p:nvSpPr>
          <p:cNvPr id="3" name="Content Placeholder 2"/>
          <p:cNvSpPr>
            <a:spLocks noGrp="1"/>
          </p:cNvSpPr>
          <p:nvPr>
            <p:ph sz="quarter" idx="13"/>
          </p:nvPr>
        </p:nvSpPr>
        <p:spPr/>
        <p:txBody>
          <a:bodyPr/>
          <a:lstStyle/>
          <a:p>
            <a:r>
              <a:rPr lang="en-US" dirty="0" smtClean="0"/>
              <a:t>Specification of cryptographically signing e-mail messages permitting a signing domain to claim responsibility for a message in the mail stream</a:t>
            </a:r>
          </a:p>
          <a:p>
            <a:r>
              <a:rPr lang="en-US" dirty="0" smtClean="0"/>
              <a:t>Proposed Internet Standard (R</a:t>
            </a:r>
            <a:r>
              <a:rPr lang="en-US" sz="100" dirty="0" smtClean="0"/>
              <a:t> </a:t>
            </a:r>
            <a:r>
              <a:rPr lang="en-US" dirty="0" smtClean="0"/>
              <a:t>F</a:t>
            </a:r>
            <a:r>
              <a:rPr lang="en-US" sz="100" dirty="0" smtClean="0"/>
              <a:t> </a:t>
            </a:r>
            <a:r>
              <a:rPr lang="en-US" dirty="0" smtClean="0"/>
              <a:t>C 4871: </a:t>
            </a:r>
            <a:r>
              <a:rPr lang="en-US" b="1" dirty="0" err="1" smtClean="0"/>
              <a:t>DomainKeys</a:t>
            </a:r>
            <a:r>
              <a:rPr lang="en-US" b="1" dirty="0" smtClean="0"/>
              <a:t> Identified Mail (D</a:t>
            </a:r>
            <a:r>
              <a:rPr lang="en-US" sz="100" b="1" dirty="0" smtClean="0"/>
              <a:t> </a:t>
            </a:r>
            <a:r>
              <a:rPr lang="en-US" b="1" dirty="0" smtClean="0"/>
              <a:t>K</a:t>
            </a:r>
            <a:r>
              <a:rPr lang="en-US" sz="100" b="1" dirty="0" smtClean="0"/>
              <a:t> </a:t>
            </a:r>
            <a:r>
              <a:rPr lang="en-US" b="1" dirty="0" smtClean="0"/>
              <a:t>I</a:t>
            </a:r>
            <a:r>
              <a:rPr lang="en-US" sz="100" b="1" dirty="0" smtClean="0"/>
              <a:t> </a:t>
            </a:r>
            <a:r>
              <a:rPr lang="en-US" b="1" dirty="0" smtClean="0"/>
              <a:t>M) Signatures</a:t>
            </a:r>
            <a:r>
              <a:rPr lang="en-US" dirty="0" smtClean="0"/>
              <a:t>)</a:t>
            </a:r>
          </a:p>
          <a:p>
            <a:r>
              <a:rPr lang="en-US" dirty="0" smtClean="0"/>
              <a:t>Has been widely adopted by a range of e-mail providers</a:t>
            </a:r>
            <a:endParaRPr lang="en-US" dirty="0"/>
          </a:p>
        </p:txBody>
      </p:sp>
    </p:spTree>
    <p:extLst>
      <p:ext uri="{BB962C8B-B14F-4D97-AF65-F5344CB8AC3E}">
        <p14:creationId xmlns:p14="http://schemas.microsoft.com/office/powerpoint/2010/main" val="3402501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155"/>
            <a:ext cx="8229600" cy="1237495"/>
          </a:xfrm>
        </p:spPr>
        <p:txBody>
          <a:bodyPr/>
          <a:lstStyle/>
          <a:p>
            <a:r>
              <a:rPr lang="en-US" sz="2400" dirty="0" smtClean="0"/>
              <a:t>Figure 22.2 Function Modules and Standardized Protocols Used Between Them in the Internet Mail Architecture</a:t>
            </a:r>
            <a:endParaRPr lang="en-US" sz="2400" dirty="0"/>
          </a:p>
        </p:txBody>
      </p:sp>
      <p:pic>
        <p:nvPicPr>
          <p:cNvPr id="4" name="Content Placeholder 3" descr="An illustration depicts the function modules and standardized Protocol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86103" y="1527440"/>
            <a:ext cx="5171794" cy="4764439"/>
          </a:xfrm>
        </p:spPr>
      </p:pic>
    </p:spTree>
    <p:extLst>
      <p:ext uri="{BB962C8B-B14F-4D97-AF65-F5344CB8AC3E}">
        <p14:creationId xmlns:p14="http://schemas.microsoft.com/office/powerpoint/2010/main" val="3936609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Figure 22.3 Simple Example of D</a:t>
            </a:r>
            <a:r>
              <a:rPr lang="en-US" sz="100" dirty="0" smtClean="0"/>
              <a:t> </a:t>
            </a:r>
            <a:r>
              <a:rPr lang="en-US" sz="3200" dirty="0" smtClean="0"/>
              <a:t>K</a:t>
            </a:r>
            <a:r>
              <a:rPr lang="en-US" sz="100" dirty="0" smtClean="0"/>
              <a:t> </a:t>
            </a:r>
            <a:r>
              <a:rPr lang="en-US" sz="3200" dirty="0" smtClean="0"/>
              <a:t>I</a:t>
            </a:r>
            <a:r>
              <a:rPr lang="en-US" sz="100" dirty="0" smtClean="0"/>
              <a:t> </a:t>
            </a:r>
            <a:r>
              <a:rPr lang="en-US" sz="3200" dirty="0" smtClean="0"/>
              <a:t>M Deployment</a:t>
            </a:r>
            <a:endParaRPr lang="en-US" sz="3200" dirty="0"/>
          </a:p>
        </p:txBody>
      </p:sp>
      <p:pic>
        <p:nvPicPr>
          <p:cNvPr id="4" name="Content Placeholder 3" descr="An illustration depicts D K I M Deployment.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18796" y="1581635"/>
            <a:ext cx="5306409" cy="4661364"/>
          </a:xfrm>
        </p:spPr>
      </p:pic>
    </p:spTree>
    <p:extLst>
      <p:ext uri="{BB962C8B-B14F-4D97-AF65-F5344CB8AC3E}">
        <p14:creationId xmlns:p14="http://schemas.microsoft.com/office/powerpoint/2010/main" val="1571583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Secure Sockets Layer (S</a:t>
            </a:r>
            <a:r>
              <a:rPr lang="en-US" sz="100" dirty="0" smtClean="0"/>
              <a:t> </a:t>
            </a:r>
            <a:r>
              <a:rPr lang="en-US" sz="3200" dirty="0" err="1" smtClean="0"/>
              <a:t>S</a:t>
            </a:r>
            <a:r>
              <a:rPr lang="en-US" sz="100" dirty="0" smtClean="0"/>
              <a:t> </a:t>
            </a:r>
            <a:r>
              <a:rPr lang="en-US" sz="3200" dirty="0" smtClean="0"/>
              <a:t>L) and Transport Layer Security (T</a:t>
            </a:r>
            <a:r>
              <a:rPr lang="en-US" sz="100" dirty="0" smtClean="0"/>
              <a:t> </a:t>
            </a:r>
            <a:r>
              <a:rPr lang="en-US" sz="3200" dirty="0" smtClean="0"/>
              <a:t>L</a:t>
            </a:r>
            <a:r>
              <a:rPr lang="en-US" sz="100" dirty="0" smtClean="0"/>
              <a:t> </a:t>
            </a:r>
            <a:r>
              <a:rPr lang="en-US" sz="3200" dirty="0" smtClean="0"/>
              <a:t>S)</a:t>
            </a:r>
            <a:endParaRPr lang="en-US" sz="3200" dirty="0"/>
          </a:p>
        </p:txBody>
      </p:sp>
      <p:sp>
        <p:nvSpPr>
          <p:cNvPr id="4" name="Content Placeholder 3"/>
          <p:cNvSpPr>
            <a:spLocks noGrp="1"/>
          </p:cNvSpPr>
          <p:nvPr>
            <p:ph sz="quarter" idx="13"/>
          </p:nvPr>
        </p:nvSpPr>
        <p:spPr>
          <a:xfrm>
            <a:off x="457200" y="1556326"/>
            <a:ext cx="4002066" cy="4282771"/>
          </a:xfrm>
        </p:spPr>
        <p:txBody>
          <a:bodyPr/>
          <a:lstStyle/>
          <a:p>
            <a:r>
              <a:rPr lang="en-US" dirty="0" smtClean="0"/>
              <a:t>One of the most widely used security services</a:t>
            </a:r>
          </a:p>
          <a:p>
            <a:r>
              <a:rPr lang="en-US" dirty="0" smtClean="0"/>
              <a:t>General-purpose service implemented as a set of protocols that rely on T</a:t>
            </a:r>
            <a:r>
              <a:rPr lang="en-US" sz="100" dirty="0" smtClean="0"/>
              <a:t> </a:t>
            </a:r>
            <a:r>
              <a:rPr lang="en-US" dirty="0" smtClean="0"/>
              <a:t>C</a:t>
            </a:r>
            <a:r>
              <a:rPr lang="en-US" sz="100" dirty="0" smtClean="0"/>
              <a:t> </a:t>
            </a:r>
            <a:r>
              <a:rPr lang="en-US" dirty="0" smtClean="0"/>
              <a:t>P</a:t>
            </a:r>
          </a:p>
          <a:p>
            <a:r>
              <a:rPr lang="en-US" dirty="0" smtClean="0"/>
              <a:t>Subsequently became Internet standard R</a:t>
            </a:r>
            <a:r>
              <a:rPr lang="en-US" sz="100" dirty="0" smtClean="0"/>
              <a:t> </a:t>
            </a:r>
            <a:r>
              <a:rPr lang="en-US" dirty="0" smtClean="0"/>
              <a:t>F</a:t>
            </a:r>
            <a:r>
              <a:rPr lang="en-US" sz="100" dirty="0" smtClean="0"/>
              <a:t> </a:t>
            </a:r>
            <a:r>
              <a:rPr lang="en-US" dirty="0" smtClean="0"/>
              <a:t>C</a:t>
            </a:r>
            <a:r>
              <a:rPr lang="en-US" sz="200" dirty="0" smtClean="0"/>
              <a:t> </a:t>
            </a:r>
            <a:r>
              <a:rPr lang="en-US" dirty="0" smtClean="0"/>
              <a:t>4346: Transport Layer Security (T</a:t>
            </a:r>
            <a:r>
              <a:rPr lang="en-US" sz="100" dirty="0" smtClean="0"/>
              <a:t> </a:t>
            </a:r>
            <a:r>
              <a:rPr lang="en-US" dirty="0" smtClean="0"/>
              <a:t>L</a:t>
            </a:r>
            <a:r>
              <a:rPr lang="en-US" sz="100" dirty="0" smtClean="0"/>
              <a:t> </a:t>
            </a:r>
            <a:r>
              <a:rPr lang="en-US" dirty="0" smtClean="0"/>
              <a:t>S)</a:t>
            </a:r>
            <a:endParaRPr lang="en-US" dirty="0"/>
          </a:p>
        </p:txBody>
      </p:sp>
      <p:sp>
        <p:nvSpPr>
          <p:cNvPr id="5" name="Content Placeholder 4"/>
          <p:cNvSpPr>
            <a:spLocks noGrp="1"/>
          </p:cNvSpPr>
          <p:nvPr>
            <p:ph sz="quarter" idx="14"/>
          </p:nvPr>
        </p:nvSpPr>
        <p:spPr>
          <a:xfrm>
            <a:off x="4972832" y="1556327"/>
            <a:ext cx="3713967" cy="3441558"/>
          </a:xfrm>
        </p:spPr>
        <p:txBody>
          <a:bodyPr/>
          <a:lstStyle/>
          <a:p>
            <a:r>
              <a:rPr lang="en-US" b="1" dirty="0" smtClean="0"/>
              <a:t>Two implementation choices:</a:t>
            </a:r>
          </a:p>
          <a:p>
            <a:pPr lvl="1"/>
            <a:r>
              <a:rPr lang="en-US" dirty="0" smtClean="0"/>
              <a:t>Provided as part of the underlying protocol suite</a:t>
            </a:r>
          </a:p>
          <a:p>
            <a:pPr lvl="1"/>
            <a:r>
              <a:rPr lang="en-US" dirty="0" smtClean="0"/>
              <a:t>Embedded in specific packages</a:t>
            </a:r>
            <a:endParaRPr lang="en-US" dirty="0"/>
          </a:p>
        </p:txBody>
      </p:sp>
    </p:spTree>
    <p:extLst>
      <p:ext uri="{BB962C8B-B14F-4D97-AF65-F5344CB8AC3E}">
        <p14:creationId xmlns:p14="http://schemas.microsoft.com/office/powerpoint/2010/main" val="7611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Figure 22.4 S</a:t>
            </a:r>
            <a:r>
              <a:rPr lang="en-US" sz="100" dirty="0" smtClean="0"/>
              <a:t> </a:t>
            </a:r>
            <a:r>
              <a:rPr lang="en-US" dirty="0" err="1" smtClean="0"/>
              <a:t>S</a:t>
            </a:r>
            <a:r>
              <a:rPr lang="en-US" sz="100" dirty="0" smtClean="0"/>
              <a:t> </a:t>
            </a:r>
            <a:r>
              <a:rPr lang="en-US" dirty="0" smtClean="0"/>
              <a:t>L/T</a:t>
            </a:r>
            <a:r>
              <a:rPr lang="en-US" sz="100" dirty="0" smtClean="0"/>
              <a:t> </a:t>
            </a:r>
            <a:r>
              <a:rPr lang="en-US" dirty="0" smtClean="0"/>
              <a:t>L</a:t>
            </a:r>
            <a:r>
              <a:rPr lang="en-US" sz="100" dirty="0" smtClean="0"/>
              <a:t> </a:t>
            </a:r>
            <a:r>
              <a:rPr lang="en-US" dirty="0" smtClean="0"/>
              <a:t>S Protocol Stack</a:t>
            </a:r>
            <a:endParaRPr lang="en-US" dirty="0"/>
          </a:p>
        </p:txBody>
      </p:sp>
      <p:pic>
        <p:nvPicPr>
          <p:cNvPr id="4" name="Content Placeholder 3" descr="An illustration depicts the S S L slash T L S Protocol Stack.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88033" y="1923565"/>
            <a:ext cx="7567935" cy="3852245"/>
          </a:xfrm>
        </p:spPr>
      </p:pic>
    </p:spTree>
    <p:extLst>
      <p:ext uri="{BB962C8B-B14F-4D97-AF65-F5344CB8AC3E}">
        <p14:creationId xmlns:p14="http://schemas.microsoft.com/office/powerpoint/2010/main" val="4163130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t>
            </a:r>
            <a:r>
              <a:rPr lang="en-US" sz="100" dirty="0" smtClean="0"/>
              <a:t> </a:t>
            </a:r>
            <a:r>
              <a:rPr lang="en-US" dirty="0" smtClean="0"/>
              <a:t>L</a:t>
            </a:r>
            <a:r>
              <a:rPr lang="en-US" sz="100" dirty="0" smtClean="0"/>
              <a:t> </a:t>
            </a:r>
            <a:r>
              <a:rPr lang="en-US" dirty="0" smtClean="0"/>
              <a:t>S Concepts</a:t>
            </a:r>
            <a:endParaRPr lang="en-US" dirty="0"/>
          </a:p>
        </p:txBody>
      </p:sp>
      <p:sp>
        <p:nvSpPr>
          <p:cNvPr id="4" name="Content Placeholder 3"/>
          <p:cNvSpPr>
            <a:spLocks noGrp="1"/>
          </p:cNvSpPr>
          <p:nvPr>
            <p:ph sz="quarter" idx="13"/>
          </p:nvPr>
        </p:nvSpPr>
        <p:spPr>
          <a:xfrm>
            <a:off x="457200" y="1556326"/>
            <a:ext cx="4114800" cy="4788911"/>
          </a:xfrm>
        </p:spPr>
        <p:txBody>
          <a:bodyPr/>
          <a:lstStyle/>
          <a:p>
            <a:pPr marL="432" indent="0">
              <a:buNone/>
            </a:pPr>
            <a:r>
              <a:rPr lang="en-US" sz="2200" dirty="0" smtClean="0"/>
              <a:t>T</a:t>
            </a:r>
            <a:r>
              <a:rPr lang="en-US" sz="100" dirty="0" smtClean="0"/>
              <a:t> </a:t>
            </a:r>
            <a:r>
              <a:rPr lang="en-US" sz="2200" dirty="0" smtClean="0"/>
              <a:t>L</a:t>
            </a:r>
            <a:r>
              <a:rPr lang="en-US" sz="100" dirty="0" smtClean="0"/>
              <a:t> </a:t>
            </a:r>
            <a:r>
              <a:rPr lang="en-US" sz="2200" dirty="0" smtClean="0"/>
              <a:t>S Session</a:t>
            </a:r>
          </a:p>
          <a:p>
            <a:r>
              <a:rPr lang="en-US" sz="2200" dirty="0" smtClean="0"/>
              <a:t>An association between a client and a server</a:t>
            </a:r>
          </a:p>
          <a:p>
            <a:r>
              <a:rPr lang="en-US" sz="2200" dirty="0" smtClean="0"/>
              <a:t>Created by the Handshake Protocol</a:t>
            </a:r>
          </a:p>
          <a:p>
            <a:r>
              <a:rPr lang="en-US" sz="2200" dirty="0" smtClean="0"/>
              <a:t>Define a set of cryptographic security parameters</a:t>
            </a:r>
          </a:p>
          <a:p>
            <a:r>
              <a:rPr lang="en-US" sz="2200" dirty="0" smtClean="0"/>
              <a:t>Used to avoid the expensive negotiation of new security parameters for each connection</a:t>
            </a:r>
            <a:endParaRPr lang="en-US" sz="2200" dirty="0"/>
          </a:p>
        </p:txBody>
      </p:sp>
      <p:sp>
        <p:nvSpPr>
          <p:cNvPr id="5" name="Content Placeholder 4"/>
          <p:cNvSpPr>
            <a:spLocks noGrp="1"/>
          </p:cNvSpPr>
          <p:nvPr>
            <p:ph sz="quarter" idx="14"/>
          </p:nvPr>
        </p:nvSpPr>
        <p:spPr>
          <a:xfrm>
            <a:off x="4872624" y="1557339"/>
            <a:ext cx="3814175" cy="4519612"/>
          </a:xfrm>
        </p:spPr>
        <p:txBody>
          <a:bodyPr/>
          <a:lstStyle/>
          <a:p>
            <a:pPr marL="432" indent="0">
              <a:buNone/>
            </a:pPr>
            <a:r>
              <a:rPr lang="en-US" sz="2200" dirty="0" smtClean="0"/>
              <a:t>T</a:t>
            </a:r>
            <a:r>
              <a:rPr lang="en-US" sz="100" dirty="0" smtClean="0"/>
              <a:t> </a:t>
            </a:r>
            <a:r>
              <a:rPr lang="en-US" sz="2200" dirty="0" smtClean="0"/>
              <a:t>L</a:t>
            </a:r>
            <a:r>
              <a:rPr lang="en-US" sz="100" dirty="0" smtClean="0"/>
              <a:t> </a:t>
            </a:r>
            <a:r>
              <a:rPr lang="en-US" sz="2200" dirty="0" smtClean="0"/>
              <a:t>S Connection</a:t>
            </a:r>
          </a:p>
          <a:p>
            <a:r>
              <a:rPr lang="en-US" sz="2200" dirty="0" smtClean="0"/>
              <a:t>A transport (in the O</a:t>
            </a:r>
            <a:r>
              <a:rPr lang="en-US" sz="100" dirty="0" smtClean="0"/>
              <a:t> </a:t>
            </a:r>
            <a:r>
              <a:rPr lang="en-US" sz="2200" dirty="0" smtClean="0"/>
              <a:t>S</a:t>
            </a:r>
            <a:r>
              <a:rPr lang="en-US" sz="100" dirty="0" smtClean="0"/>
              <a:t> </a:t>
            </a:r>
            <a:r>
              <a:rPr lang="en-US" sz="2200" dirty="0" smtClean="0"/>
              <a:t>I layering model definition) that provides a suitable type of service</a:t>
            </a:r>
          </a:p>
          <a:p>
            <a:r>
              <a:rPr lang="en-US" sz="2200" dirty="0" smtClean="0"/>
              <a:t>Peer-to-peer relationships</a:t>
            </a:r>
          </a:p>
          <a:p>
            <a:r>
              <a:rPr lang="en-US" sz="2200" dirty="0" smtClean="0"/>
              <a:t>Transient</a:t>
            </a:r>
          </a:p>
          <a:p>
            <a:r>
              <a:rPr lang="en-US" sz="2200" dirty="0" smtClean="0"/>
              <a:t>Every connection is associated with one session</a:t>
            </a:r>
            <a:endParaRPr lang="en-US" sz="2200" dirty="0"/>
          </a:p>
        </p:txBody>
      </p:sp>
    </p:spTree>
    <p:extLst>
      <p:ext uri="{BB962C8B-B14F-4D97-AF65-F5344CB8AC3E}">
        <p14:creationId xmlns:p14="http://schemas.microsoft.com/office/powerpoint/2010/main" val="4263945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Figure 22.5 T</a:t>
            </a:r>
            <a:r>
              <a:rPr lang="en-US" sz="100" dirty="0" smtClean="0"/>
              <a:t> </a:t>
            </a:r>
            <a:r>
              <a:rPr lang="en-US" sz="3200" dirty="0" smtClean="0"/>
              <a:t>L</a:t>
            </a:r>
            <a:r>
              <a:rPr lang="en-US" sz="100" dirty="0" smtClean="0"/>
              <a:t> </a:t>
            </a:r>
            <a:r>
              <a:rPr lang="en-US" sz="3200" dirty="0" smtClean="0"/>
              <a:t>S Record Protocol Operation</a:t>
            </a:r>
            <a:endParaRPr lang="en-US" sz="3200" dirty="0"/>
          </a:p>
        </p:txBody>
      </p:sp>
      <p:pic>
        <p:nvPicPr>
          <p:cNvPr id="4" name="Content Placeholder 3" descr="An illustration depicts the T L S Record Protocol.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897477" y="1568949"/>
            <a:ext cx="7349047" cy="4561477"/>
          </a:xfrm>
        </p:spPr>
      </p:pic>
    </p:spTree>
    <p:extLst>
      <p:ext uri="{BB962C8B-B14F-4D97-AF65-F5344CB8AC3E}">
        <p14:creationId xmlns:p14="http://schemas.microsoft.com/office/powerpoint/2010/main" val="2266246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Cipher Spec Protocol</a:t>
            </a:r>
            <a:endParaRPr lang="en-US" dirty="0"/>
          </a:p>
        </p:txBody>
      </p:sp>
      <p:sp>
        <p:nvSpPr>
          <p:cNvPr id="3" name="Content Placeholder 2"/>
          <p:cNvSpPr>
            <a:spLocks noGrp="1"/>
          </p:cNvSpPr>
          <p:nvPr>
            <p:ph sz="quarter" idx="13"/>
          </p:nvPr>
        </p:nvSpPr>
        <p:spPr/>
        <p:txBody>
          <a:bodyPr/>
          <a:lstStyle/>
          <a:p>
            <a:r>
              <a:rPr lang="en-US" dirty="0" smtClean="0"/>
              <a:t>One of four T</a:t>
            </a:r>
            <a:r>
              <a:rPr lang="en-US" sz="100" dirty="0" smtClean="0"/>
              <a:t> </a:t>
            </a:r>
            <a:r>
              <a:rPr lang="en-US" dirty="0" smtClean="0"/>
              <a:t>L</a:t>
            </a:r>
            <a:r>
              <a:rPr lang="en-US" sz="100" dirty="0" smtClean="0"/>
              <a:t> </a:t>
            </a:r>
            <a:r>
              <a:rPr lang="en-US" dirty="0" smtClean="0"/>
              <a:t>S specific protocols that use the T</a:t>
            </a:r>
            <a:r>
              <a:rPr lang="en-US" sz="100" dirty="0" smtClean="0"/>
              <a:t> </a:t>
            </a:r>
            <a:r>
              <a:rPr lang="en-US" dirty="0" smtClean="0"/>
              <a:t>L</a:t>
            </a:r>
            <a:r>
              <a:rPr lang="en-US" sz="100" dirty="0" smtClean="0"/>
              <a:t> </a:t>
            </a:r>
            <a:r>
              <a:rPr lang="en-US" dirty="0" smtClean="0"/>
              <a:t>S Record Protocol</a:t>
            </a:r>
          </a:p>
          <a:p>
            <a:r>
              <a:rPr lang="en-US" dirty="0" smtClean="0"/>
              <a:t>Is the simplest</a:t>
            </a:r>
          </a:p>
          <a:p>
            <a:r>
              <a:rPr lang="en-US" dirty="0" smtClean="0"/>
              <a:t>Consists of a single message which consists of a single byte with the value 1</a:t>
            </a:r>
          </a:p>
          <a:p>
            <a:r>
              <a:rPr lang="en-US" dirty="0" smtClean="0"/>
              <a:t>Sole purpose of this message is to cause pending state to be copied into the current state</a:t>
            </a:r>
          </a:p>
          <a:p>
            <a:r>
              <a:rPr lang="en-US" dirty="0" smtClean="0"/>
              <a:t>Hence updating the cipher suite in use</a:t>
            </a:r>
            <a:endParaRPr lang="en-US" dirty="0"/>
          </a:p>
        </p:txBody>
      </p:sp>
    </p:spTree>
    <p:extLst>
      <p:ext uri="{BB962C8B-B14F-4D97-AF65-F5344CB8AC3E}">
        <p14:creationId xmlns:p14="http://schemas.microsoft.com/office/powerpoint/2010/main" val="1760271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Alert Protocol</a:t>
            </a:r>
            <a:endParaRPr lang="en-US" dirty="0"/>
          </a:p>
        </p:txBody>
      </p:sp>
      <p:sp>
        <p:nvSpPr>
          <p:cNvPr id="4" name="Content Placeholder 3"/>
          <p:cNvSpPr>
            <a:spLocks noGrp="1"/>
          </p:cNvSpPr>
          <p:nvPr>
            <p:ph sz="quarter" idx="13"/>
          </p:nvPr>
        </p:nvSpPr>
        <p:spPr>
          <a:xfrm>
            <a:off x="457200" y="1556328"/>
            <a:ext cx="8229600" cy="923636"/>
          </a:xfrm>
        </p:spPr>
        <p:txBody>
          <a:bodyPr/>
          <a:lstStyle/>
          <a:p>
            <a:r>
              <a:rPr lang="en-US" sz="2200" dirty="0" smtClean="0"/>
              <a:t>Conveys T</a:t>
            </a:r>
            <a:r>
              <a:rPr lang="en-US" sz="100" dirty="0" smtClean="0"/>
              <a:t> </a:t>
            </a:r>
            <a:r>
              <a:rPr lang="en-US" sz="2200" dirty="0" smtClean="0"/>
              <a:t>L</a:t>
            </a:r>
            <a:r>
              <a:rPr lang="en-US" sz="100" dirty="0" smtClean="0"/>
              <a:t> </a:t>
            </a:r>
            <a:r>
              <a:rPr lang="en-US" sz="2200" dirty="0" smtClean="0"/>
              <a:t>S-related alerts to peer entity</a:t>
            </a:r>
          </a:p>
          <a:p>
            <a:pPr lvl="1"/>
            <a:r>
              <a:rPr lang="en-US" sz="2200" dirty="0" smtClean="0"/>
              <a:t>Alert messages are compressed and encrypted</a:t>
            </a:r>
            <a:endParaRPr lang="en-US" sz="2200" dirty="0"/>
          </a:p>
        </p:txBody>
      </p:sp>
      <p:sp>
        <p:nvSpPr>
          <p:cNvPr id="5" name="Content Placeholder 4"/>
          <p:cNvSpPr>
            <a:spLocks noGrp="1"/>
          </p:cNvSpPr>
          <p:nvPr>
            <p:ph sz="quarter" idx="14"/>
          </p:nvPr>
        </p:nvSpPr>
        <p:spPr>
          <a:xfrm>
            <a:off x="457199" y="2556445"/>
            <a:ext cx="8354291" cy="3567264"/>
          </a:xfrm>
        </p:spPr>
        <p:txBody>
          <a:bodyPr/>
          <a:lstStyle/>
          <a:p>
            <a:r>
              <a:rPr lang="en-US" sz="2200" dirty="0" smtClean="0"/>
              <a:t>Each message consists of two bytes:</a:t>
            </a:r>
          </a:p>
          <a:p>
            <a:pPr lvl="1"/>
            <a:r>
              <a:rPr lang="en-US" sz="2200" dirty="0" smtClean="0"/>
              <a:t>First byte takes the value warning (1) or fatal (2) to convey the severity of the message</a:t>
            </a:r>
          </a:p>
          <a:p>
            <a:pPr lvl="2"/>
            <a:r>
              <a:rPr lang="en-US" sz="2200" dirty="0" smtClean="0"/>
              <a:t>If the level is fatal, T</a:t>
            </a:r>
            <a:r>
              <a:rPr lang="en-US" sz="100" dirty="0" smtClean="0"/>
              <a:t> </a:t>
            </a:r>
            <a:r>
              <a:rPr lang="en-US" sz="2200" dirty="0" smtClean="0"/>
              <a:t>S</a:t>
            </a:r>
            <a:r>
              <a:rPr lang="en-US" sz="100" dirty="0" smtClean="0"/>
              <a:t> </a:t>
            </a:r>
            <a:r>
              <a:rPr lang="en-US" sz="2200" dirty="0" smtClean="0"/>
              <a:t>L immediately terminates the connection</a:t>
            </a:r>
          </a:p>
          <a:p>
            <a:pPr lvl="2"/>
            <a:r>
              <a:rPr lang="en-US" sz="2200" dirty="0" smtClean="0"/>
              <a:t>Other connections on the same session may continue, but no new connections on this session may be established</a:t>
            </a:r>
          </a:p>
          <a:p>
            <a:pPr lvl="1"/>
            <a:r>
              <a:rPr lang="en-US" sz="2200" dirty="0" smtClean="0"/>
              <a:t>Second byte contains a code that indicates the specific alert</a:t>
            </a:r>
            <a:endParaRPr lang="en-US" sz="2200" dirty="0"/>
          </a:p>
        </p:txBody>
      </p:sp>
    </p:spTree>
    <p:extLst>
      <p:ext uri="{BB962C8B-B14F-4D97-AF65-F5344CB8AC3E}">
        <p14:creationId xmlns:p14="http://schemas.microsoft.com/office/powerpoint/2010/main" val="2610544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Handshake Protocol</a:t>
            </a:r>
            <a:endParaRPr lang="en-US" dirty="0"/>
          </a:p>
        </p:txBody>
      </p:sp>
      <p:sp>
        <p:nvSpPr>
          <p:cNvPr id="4" name="Content Placeholder 3"/>
          <p:cNvSpPr>
            <a:spLocks noGrp="1"/>
          </p:cNvSpPr>
          <p:nvPr>
            <p:ph sz="quarter" idx="13"/>
          </p:nvPr>
        </p:nvSpPr>
        <p:spPr>
          <a:xfrm>
            <a:off x="457200" y="1552576"/>
            <a:ext cx="6845474" cy="1024346"/>
          </a:xfrm>
        </p:spPr>
        <p:txBody>
          <a:bodyPr/>
          <a:lstStyle/>
          <a:p>
            <a:r>
              <a:rPr lang="en-US" sz="2200" dirty="0" smtClean="0"/>
              <a:t>Most complex part of T</a:t>
            </a:r>
            <a:r>
              <a:rPr lang="en-US" sz="100" dirty="0" smtClean="0"/>
              <a:t> </a:t>
            </a:r>
            <a:r>
              <a:rPr lang="en-US" sz="2200" dirty="0" smtClean="0"/>
              <a:t>L</a:t>
            </a:r>
            <a:r>
              <a:rPr lang="en-US" sz="100" dirty="0" smtClean="0"/>
              <a:t> </a:t>
            </a:r>
            <a:r>
              <a:rPr lang="en-US" sz="2200" dirty="0" smtClean="0"/>
              <a:t>S</a:t>
            </a:r>
          </a:p>
          <a:p>
            <a:r>
              <a:rPr lang="en-US" sz="2200" dirty="0" smtClean="0"/>
              <a:t>Is used before any application data are transmitted</a:t>
            </a:r>
            <a:endParaRPr lang="en-US" sz="2200" dirty="0"/>
          </a:p>
        </p:txBody>
      </p:sp>
      <p:pic>
        <p:nvPicPr>
          <p:cNvPr id="18" name="Content Placeholder 17" descr="Handshake icon"/>
          <p:cNvPicPr>
            <a:picLocks noGrp="1" noChangeAspect="1"/>
          </p:cNvPicPr>
          <p:nvPr>
            <p:ph sz="quarter" idx="14"/>
          </p:nvPr>
        </p:nvPicPr>
        <p:blipFill>
          <a:blip r:embed="rId3"/>
          <a:stretch>
            <a:fillRect/>
          </a:stretch>
        </p:blipFill>
        <p:spPr>
          <a:xfrm>
            <a:off x="7432755" y="1552575"/>
            <a:ext cx="1399108" cy="1024346"/>
          </a:xfrm>
          <a:prstGeom prst="rect">
            <a:avLst/>
          </a:prstGeom>
        </p:spPr>
      </p:pic>
      <p:sp>
        <p:nvSpPr>
          <p:cNvPr id="6" name="Content Placeholder 5"/>
          <p:cNvSpPr>
            <a:spLocks noGrp="1"/>
          </p:cNvSpPr>
          <p:nvPr>
            <p:ph sz="quarter" idx="15"/>
          </p:nvPr>
        </p:nvSpPr>
        <p:spPr>
          <a:xfrm>
            <a:off x="457200" y="2662669"/>
            <a:ext cx="7910186" cy="1785506"/>
          </a:xfrm>
        </p:spPr>
        <p:txBody>
          <a:bodyPr/>
          <a:lstStyle/>
          <a:p>
            <a:pPr marL="314532" indent="-342900"/>
            <a:r>
              <a:rPr lang="en-US" sz="2200" dirty="0" smtClean="0"/>
              <a:t>Allows server and client to:</a:t>
            </a:r>
          </a:p>
          <a:p>
            <a:pPr lvl="1"/>
            <a:r>
              <a:rPr lang="en-US" sz="2200" dirty="0" smtClean="0"/>
              <a:t>Authenticate each other</a:t>
            </a:r>
          </a:p>
          <a:p>
            <a:pPr lvl="1"/>
            <a:r>
              <a:rPr lang="en-US" sz="2200" dirty="0" smtClean="0"/>
              <a:t>Negotiate encryption and M</a:t>
            </a:r>
            <a:r>
              <a:rPr lang="en-US" sz="100" dirty="0" smtClean="0"/>
              <a:t> </a:t>
            </a:r>
            <a:r>
              <a:rPr lang="en-US" sz="2200" dirty="0" smtClean="0"/>
              <a:t>A</a:t>
            </a:r>
            <a:r>
              <a:rPr lang="en-US" sz="100" dirty="0" smtClean="0"/>
              <a:t> </a:t>
            </a:r>
            <a:r>
              <a:rPr lang="en-US" sz="2200" dirty="0" smtClean="0"/>
              <a:t>C algorithms</a:t>
            </a:r>
          </a:p>
          <a:p>
            <a:pPr lvl="1"/>
            <a:r>
              <a:rPr lang="en-US" sz="2200" dirty="0" smtClean="0"/>
              <a:t>Negotiate cryptographic keys to be used</a:t>
            </a:r>
            <a:endParaRPr lang="en-US" sz="2200" dirty="0"/>
          </a:p>
        </p:txBody>
      </p:sp>
      <p:sp>
        <p:nvSpPr>
          <p:cNvPr id="7" name="Content Placeholder 6"/>
          <p:cNvSpPr>
            <a:spLocks noGrp="1"/>
          </p:cNvSpPr>
          <p:nvPr>
            <p:ph sz="quarter" idx="16"/>
          </p:nvPr>
        </p:nvSpPr>
        <p:spPr>
          <a:xfrm>
            <a:off x="457200" y="4558032"/>
            <a:ext cx="8229600" cy="1458155"/>
          </a:xfrm>
        </p:spPr>
        <p:txBody>
          <a:bodyPr/>
          <a:lstStyle/>
          <a:p>
            <a:r>
              <a:rPr lang="en-US" sz="2200" dirty="0" smtClean="0"/>
              <a:t>Comprises a series of messages exchanged by client and server</a:t>
            </a:r>
          </a:p>
          <a:p>
            <a:r>
              <a:rPr lang="en-US" sz="2200" dirty="0" smtClean="0"/>
              <a:t>Exchange has four phases</a:t>
            </a:r>
            <a:endParaRPr lang="en-US" sz="2200" dirty="0"/>
          </a:p>
        </p:txBody>
      </p:sp>
    </p:spTree>
    <p:extLst>
      <p:ext uri="{BB962C8B-B14F-4D97-AF65-F5344CB8AC3E}">
        <p14:creationId xmlns:p14="http://schemas.microsoft.com/office/powerpoint/2010/main" val="3313712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Figure 22.6 Handshake Protocol Action</a:t>
            </a:r>
            <a:endParaRPr lang="en-US" sz="3200" dirty="0"/>
          </a:p>
        </p:txBody>
      </p:sp>
      <p:pic>
        <p:nvPicPr>
          <p:cNvPr id="4" name="Content Placeholder 3" descr="An illustration depicts the Handshake protocol action that takes place between the client and the server.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670392" y="1557410"/>
            <a:ext cx="3803217" cy="4726893"/>
          </a:xfrm>
        </p:spPr>
      </p:pic>
    </p:spTree>
    <p:extLst>
      <p:ext uri="{BB962C8B-B14F-4D97-AF65-F5344CB8AC3E}">
        <p14:creationId xmlns:p14="http://schemas.microsoft.com/office/powerpoint/2010/main" val="560373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Heartbeat Protocol</a:t>
            </a:r>
            <a:endParaRPr lang="en-US" dirty="0"/>
          </a:p>
        </p:txBody>
      </p:sp>
      <p:sp>
        <p:nvSpPr>
          <p:cNvPr id="3" name="Content Placeholder 2"/>
          <p:cNvSpPr>
            <a:spLocks noGrp="1"/>
          </p:cNvSpPr>
          <p:nvPr>
            <p:ph sz="quarter" idx="13"/>
          </p:nvPr>
        </p:nvSpPr>
        <p:spPr>
          <a:xfrm>
            <a:off x="457200" y="1556326"/>
            <a:ext cx="8229600" cy="4567383"/>
          </a:xfrm>
        </p:spPr>
        <p:txBody>
          <a:bodyPr/>
          <a:lstStyle/>
          <a:p>
            <a:r>
              <a:rPr lang="en-US" sz="2000" dirty="0" smtClean="0"/>
              <a:t>A periodic signal generated by hardware or software to indicate normal operation or to synchronize other parts of a system</a:t>
            </a:r>
          </a:p>
          <a:p>
            <a:r>
              <a:rPr lang="en-US" sz="2000" dirty="0" smtClean="0"/>
              <a:t>Typically used to monitor the availability of a protocol entity</a:t>
            </a:r>
          </a:p>
          <a:p>
            <a:r>
              <a:rPr lang="en-US" sz="2000" dirty="0" smtClean="0"/>
              <a:t>Defined in 2012 in R</a:t>
            </a:r>
            <a:r>
              <a:rPr lang="en-US" sz="100" dirty="0" smtClean="0"/>
              <a:t> </a:t>
            </a:r>
            <a:r>
              <a:rPr lang="en-US" sz="2000" dirty="0" smtClean="0"/>
              <a:t>F</a:t>
            </a:r>
            <a:r>
              <a:rPr lang="en-US" sz="100" dirty="0" smtClean="0"/>
              <a:t> </a:t>
            </a:r>
            <a:r>
              <a:rPr lang="en-US" sz="2000" dirty="0" smtClean="0"/>
              <a:t>C 6250</a:t>
            </a:r>
          </a:p>
          <a:p>
            <a:r>
              <a:rPr lang="en-US" sz="2000" dirty="0" smtClean="0"/>
              <a:t>Runs on top of the T</a:t>
            </a:r>
            <a:r>
              <a:rPr lang="en-US" sz="100" dirty="0" smtClean="0"/>
              <a:t> </a:t>
            </a:r>
            <a:r>
              <a:rPr lang="en-US" sz="2000" dirty="0" smtClean="0"/>
              <a:t>L</a:t>
            </a:r>
            <a:r>
              <a:rPr lang="en-US" sz="100" dirty="0" smtClean="0"/>
              <a:t> </a:t>
            </a:r>
            <a:r>
              <a:rPr lang="en-US" sz="2000" dirty="0" smtClean="0"/>
              <a:t>S Record Protocol</a:t>
            </a:r>
          </a:p>
          <a:p>
            <a:r>
              <a:rPr lang="en-US" sz="2000" dirty="0" smtClean="0"/>
              <a:t>Use is established during Phase 1 of the Handshake Protocol</a:t>
            </a:r>
          </a:p>
          <a:p>
            <a:r>
              <a:rPr lang="en-US" sz="2000" dirty="0" smtClean="0"/>
              <a:t>Each peer indicates whether it supports heartbeats</a:t>
            </a:r>
          </a:p>
          <a:p>
            <a:r>
              <a:rPr lang="en-US" sz="2000" dirty="0" smtClean="0"/>
              <a:t>Serves two purposes:</a:t>
            </a:r>
          </a:p>
          <a:p>
            <a:pPr lvl="1"/>
            <a:r>
              <a:rPr lang="en-US" sz="2000" dirty="0" smtClean="0"/>
              <a:t>Assures the sender that the recipient is still alive</a:t>
            </a:r>
          </a:p>
          <a:p>
            <a:pPr lvl="1"/>
            <a:r>
              <a:rPr lang="en-US" sz="2000" dirty="0" smtClean="0"/>
              <a:t>Generates activity across the connection during idle periods</a:t>
            </a:r>
            <a:endParaRPr lang="en-US" sz="2000" dirty="0"/>
          </a:p>
        </p:txBody>
      </p:sp>
    </p:spTree>
    <p:extLst>
      <p:ext uri="{BB962C8B-B14F-4D97-AF65-F5344CB8AC3E}">
        <p14:creationId xmlns:p14="http://schemas.microsoft.com/office/powerpoint/2010/main" val="2113625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t>
            </a:r>
            <a:r>
              <a:rPr lang="en-US" sz="100" dirty="0" smtClean="0"/>
              <a:t> </a:t>
            </a:r>
            <a:r>
              <a:rPr lang="en-US" dirty="0" err="1" smtClean="0"/>
              <a:t>S</a:t>
            </a:r>
            <a:r>
              <a:rPr lang="en-US" sz="100" dirty="0" smtClean="0"/>
              <a:t> </a:t>
            </a:r>
            <a:r>
              <a:rPr lang="en-US" dirty="0" smtClean="0"/>
              <a:t>L/T</a:t>
            </a:r>
            <a:r>
              <a:rPr lang="en-US" sz="100" dirty="0" smtClean="0"/>
              <a:t> </a:t>
            </a:r>
            <a:r>
              <a:rPr lang="en-US" dirty="0" smtClean="0"/>
              <a:t>L</a:t>
            </a:r>
            <a:r>
              <a:rPr lang="en-US" sz="100" dirty="0" smtClean="0"/>
              <a:t> </a:t>
            </a:r>
            <a:r>
              <a:rPr lang="en-US" dirty="0" smtClean="0"/>
              <a:t>S Attacks</a:t>
            </a:r>
            <a:endParaRPr lang="en-US" dirty="0"/>
          </a:p>
        </p:txBody>
      </p:sp>
      <p:sp>
        <p:nvSpPr>
          <p:cNvPr id="3" name="Content Placeholder 2"/>
          <p:cNvSpPr>
            <a:spLocks noGrp="1"/>
          </p:cNvSpPr>
          <p:nvPr>
            <p:ph sz="quarter" idx="13"/>
          </p:nvPr>
        </p:nvSpPr>
        <p:spPr>
          <a:xfrm>
            <a:off x="457200" y="1556327"/>
            <a:ext cx="8229600" cy="3216089"/>
          </a:xfrm>
        </p:spPr>
        <p:txBody>
          <a:bodyPr/>
          <a:lstStyle/>
          <a:p>
            <a:r>
              <a:rPr lang="en-US" b="1" dirty="0" smtClean="0"/>
              <a:t>Four general categories:</a:t>
            </a:r>
          </a:p>
          <a:p>
            <a:pPr lvl="1"/>
            <a:r>
              <a:rPr lang="en-US" dirty="0" smtClean="0"/>
              <a:t>Attacks on the Handshake Protocol</a:t>
            </a:r>
          </a:p>
          <a:p>
            <a:pPr lvl="1"/>
            <a:r>
              <a:rPr lang="en-US" dirty="0" smtClean="0"/>
              <a:t>Attacks on the record and application data protocols</a:t>
            </a:r>
          </a:p>
          <a:p>
            <a:pPr lvl="1"/>
            <a:r>
              <a:rPr lang="en-US" dirty="0" smtClean="0"/>
              <a:t>Attacks on the P</a:t>
            </a:r>
            <a:r>
              <a:rPr lang="en-US" sz="100" dirty="0" smtClean="0"/>
              <a:t> </a:t>
            </a:r>
            <a:r>
              <a:rPr lang="en-US" dirty="0" smtClean="0"/>
              <a:t>K</a:t>
            </a:r>
            <a:r>
              <a:rPr lang="en-US" sz="100" dirty="0" smtClean="0"/>
              <a:t> </a:t>
            </a:r>
            <a:r>
              <a:rPr lang="en-US" dirty="0" smtClean="0"/>
              <a:t>I</a:t>
            </a:r>
          </a:p>
          <a:p>
            <a:pPr lvl="1"/>
            <a:r>
              <a:rPr lang="en-US" dirty="0" smtClean="0"/>
              <a:t>Other attacks</a:t>
            </a:r>
            <a:endParaRPr lang="en-US" dirty="0"/>
          </a:p>
        </p:txBody>
      </p:sp>
    </p:spTree>
    <p:extLst>
      <p:ext uri="{BB962C8B-B14F-4D97-AF65-F5344CB8AC3E}">
        <p14:creationId xmlns:p14="http://schemas.microsoft.com/office/powerpoint/2010/main" val="500052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Figure 22.7 The Heartbleed Exploit</a:t>
            </a:r>
            <a:endParaRPr lang="en-US" dirty="0"/>
          </a:p>
        </p:txBody>
      </p:sp>
      <p:pic>
        <p:nvPicPr>
          <p:cNvPr id="4" name="Content Placeholder 3" descr="Two illustrations depict the heart bleed exploit.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630206" y="1691800"/>
            <a:ext cx="7883589" cy="3677209"/>
          </a:xfrm>
        </p:spPr>
      </p:pic>
      <p:sp>
        <p:nvSpPr>
          <p:cNvPr id="6" name="Content Placeholder 5">
            <a:extLst>
              <a:ext uri="{FF2B5EF4-FFF2-40B4-BE49-F238E27FC236}">
                <a16:creationId xmlns:a16="http://schemas.microsoft.com/office/drawing/2014/main" id="{0702C767-F511-4D4B-A19F-4F80ABCDF882}"/>
              </a:ext>
            </a:extLst>
          </p:cNvPr>
          <p:cNvSpPr>
            <a:spLocks noGrp="1"/>
          </p:cNvSpPr>
          <p:nvPr>
            <p:ph sz="quarter" idx="14"/>
          </p:nvPr>
        </p:nvSpPr>
        <p:spPr>
          <a:xfrm>
            <a:off x="457200" y="5731714"/>
            <a:ext cx="8229600" cy="444800"/>
          </a:xfrm>
        </p:spPr>
        <p:txBody>
          <a:bodyPr/>
          <a:lstStyle/>
          <a:p>
            <a:pPr marL="432" indent="0">
              <a:buNone/>
            </a:pPr>
            <a:r>
              <a:rPr lang="en-US" sz="1600" dirty="0"/>
              <a:t>Source: B</a:t>
            </a:r>
            <a:r>
              <a:rPr lang="en-US" sz="100" dirty="0"/>
              <a:t> </a:t>
            </a:r>
            <a:r>
              <a:rPr lang="en-US" sz="1600" dirty="0"/>
              <a:t>A</a:t>
            </a:r>
            <a:r>
              <a:rPr lang="en-US" sz="100" dirty="0"/>
              <a:t> </a:t>
            </a:r>
            <a:r>
              <a:rPr lang="en-US" sz="1600" dirty="0"/>
              <a:t>E Systems</a:t>
            </a:r>
            <a:endParaRPr lang="en-IN" sz="1600" dirty="0"/>
          </a:p>
        </p:txBody>
      </p:sp>
    </p:spTree>
    <p:extLst>
      <p:ext uri="{BB962C8B-B14F-4D97-AF65-F5344CB8AC3E}">
        <p14:creationId xmlns:p14="http://schemas.microsoft.com/office/powerpoint/2010/main" val="1142743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t>
            </a:r>
            <a:r>
              <a:rPr lang="en-US" sz="100" dirty="0" smtClean="0"/>
              <a:t> </a:t>
            </a:r>
            <a:r>
              <a:rPr lang="en-US" dirty="0" smtClean="0"/>
              <a:t>T</a:t>
            </a:r>
            <a:r>
              <a:rPr lang="en-US" sz="100" dirty="0" smtClean="0"/>
              <a:t> </a:t>
            </a:r>
            <a:r>
              <a:rPr lang="en-US" dirty="0" err="1" smtClean="0"/>
              <a:t>T</a:t>
            </a:r>
            <a:r>
              <a:rPr lang="en-US" sz="100" dirty="0" smtClean="0"/>
              <a:t> </a:t>
            </a:r>
            <a:r>
              <a:rPr lang="en-US" dirty="0" smtClean="0"/>
              <a:t>P</a:t>
            </a:r>
            <a:r>
              <a:rPr lang="en-US" sz="100" dirty="0" smtClean="0"/>
              <a:t> </a:t>
            </a:r>
            <a:r>
              <a:rPr lang="en-US" dirty="0" smtClean="0"/>
              <a:t>S (H</a:t>
            </a:r>
            <a:r>
              <a:rPr lang="en-US" sz="100" dirty="0" smtClean="0"/>
              <a:t> </a:t>
            </a:r>
            <a:r>
              <a:rPr lang="en-US" dirty="0" smtClean="0"/>
              <a:t>T</a:t>
            </a:r>
            <a:r>
              <a:rPr lang="en-US" sz="100" dirty="0" smtClean="0"/>
              <a:t> </a:t>
            </a:r>
            <a:r>
              <a:rPr lang="en-US" dirty="0" err="1" smtClean="0"/>
              <a:t>T</a:t>
            </a:r>
            <a:r>
              <a:rPr lang="en-US" sz="100" dirty="0" smtClean="0"/>
              <a:t> </a:t>
            </a:r>
            <a:r>
              <a:rPr lang="en-US" dirty="0" smtClean="0"/>
              <a:t>P over S</a:t>
            </a:r>
            <a:r>
              <a:rPr lang="en-US" sz="100" dirty="0" smtClean="0"/>
              <a:t> </a:t>
            </a:r>
            <a:r>
              <a:rPr lang="en-US" dirty="0" err="1" smtClean="0"/>
              <a:t>S</a:t>
            </a:r>
            <a:r>
              <a:rPr lang="en-US" sz="100" dirty="0" smtClean="0"/>
              <a:t> </a:t>
            </a:r>
            <a:r>
              <a:rPr lang="en-US" dirty="0" smtClean="0"/>
              <a:t>L)</a:t>
            </a:r>
            <a:endParaRPr lang="en-US" dirty="0"/>
          </a:p>
        </p:txBody>
      </p:sp>
      <p:sp>
        <p:nvSpPr>
          <p:cNvPr id="3" name="Content Placeholder 2"/>
          <p:cNvSpPr>
            <a:spLocks noGrp="1"/>
          </p:cNvSpPr>
          <p:nvPr>
            <p:ph sz="quarter" idx="13"/>
          </p:nvPr>
        </p:nvSpPr>
        <p:spPr>
          <a:xfrm>
            <a:off x="457200" y="1556326"/>
            <a:ext cx="8229600" cy="4609343"/>
          </a:xfrm>
        </p:spPr>
        <p:txBody>
          <a:bodyPr/>
          <a:lstStyle/>
          <a:p>
            <a:r>
              <a:rPr lang="en-US" sz="2200" dirty="0" smtClean="0"/>
              <a:t>Combination of H</a:t>
            </a:r>
            <a:r>
              <a:rPr lang="en-US" sz="100" dirty="0" smtClean="0"/>
              <a:t> </a:t>
            </a:r>
            <a:r>
              <a:rPr lang="en-US" sz="2200" dirty="0" smtClean="0"/>
              <a:t>T</a:t>
            </a:r>
            <a:r>
              <a:rPr lang="en-US" sz="100" dirty="0" smtClean="0"/>
              <a:t> </a:t>
            </a:r>
            <a:r>
              <a:rPr lang="en-US" sz="2200" dirty="0" err="1" smtClean="0"/>
              <a:t>T</a:t>
            </a:r>
            <a:r>
              <a:rPr lang="en-US" sz="100" dirty="0" smtClean="0"/>
              <a:t> </a:t>
            </a:r>
            <a:r>
              <a:rPr lang="en-US" sz="2200" dirty="0" smtClean="0"/>
              <a:t>P and S</a:t>
            </a:r>
            <a:r>
              <a:rPr lang="en-US" sz="100" dirty="0" smtClean="0"/>
              <a:t> </a:t>
            </a:r>
            <a:r>
              <a:rPr lang="en-US" sz="2200" dirty="0" err="1" smtClean="0"/>
              <a:t>S</a:t>
            </a:r>
            <a:r>
              <a:rPr lang="en-US" sz="100" dirty="0" smtClean="0"/>
              <a:t> </a:t>
            </a:r>
            <a:r>
              <a:rPr lang="en-US" sz="2200" dirty="0" smtClean="0"/>
              <a:t>L to implement secure communication between a Web browser and a Web server</a:t>
            </a:r>
          </a:p>
          <a:p>
            <a:r>
              <a:rPr lang="en-US" sz="2200" dirty="0" smtClean="0"/>
              <a:t>Built into all modern Web browsers</a:t>
            </a:r>
          </a:p>
          <a:p>
            <a:pPr lvl="1"/>
            <a:r>
              <a:rPr lang="en-US" sz="2200" dirty="0" smtClean="0"/>
              <a:t>Search engines do not support H</a:t>
            </a:r>
            <a:r>
              <a:rPr lang="en-US" sz="100" dirty="0" smtClean="0"/>
              <a:t> </a:t>
            </a:r>
            <a:r>
              <a:rPr lang="en-US" sz="2200" dirty="0" smtClean="0"/>
              <a:t>T</a:t>
            </a:r>
            <a:r>
              <a:rPr lang="en-US" sz="100" dirty="0" smtClean="0"/>
              <a:t> </a:t>
            </a:r>
            <a:r>
              <a:rPr lang="en-US" sz="2200" dirty="0" err="1" smtClean="0"/>
              <a:t>T</a:t>
            </a:r>
            <a:r>
              <a:rPr lang="en-US" sz="100" dirty="0" smtClean="0"/>
              <a:t> </a:t>
            </a:r>
            <a:r>
              <a:rPr lang="en-US" sz="2200" dirty="0" smtClean="0"/>
              <a:t>P</a:t>
            </a:r>
            <a:r>
              <a:rPr lang="en-US" sz="100" dirty="0" smtClean="0"/>
              <a:t> </a:t>
            </a:r>
            <a:r>
              <a:rPr lang="en-US" sz="2200" dirty="0" smtClean="0"/>
              <a:t>S</a:t>
            </a:r>
          </a:p>
          <a:p>
            <a:pPr lvl="1"/>
            <a:r>
              <a:rPr lang="en-US" sz="2200" dirty="0" smtClean="0"/>
              <a:t>U</a:t>
            </a:r>
            <a:r>
              <a:rPr lang="en-US" sz="100" dirty="0" smtClean="0"/>
              <a:t> </a:t>
            </a:r>
            <a:r>
              <a:rPr lang="en-US" sz="2200" dirty="0" smtClean="0"/>
              <a:t>R</a:t>
            </a:r>
            <a:r>
              <a:rPr lang="en-US" sz="100" dirty="0" smtClean="0"/>
              <a:t> </a:t>
            </a:r>
            <a:r>
              <a:rPr lang="en-US" sz="2200" dirty="0" smtClean="0"/>
              <a:t>L addresses begin with h</a:t>
            </a:r>
            <a:r>
              <a:rPr lang="en-US" sz="100" dirty="0" smtClean="0"/>
              <a:t> </a:t>
            </a:r>
            <a:r>
              <a:rPr lang="en-US" sz="2200" dirty="0" smtClean="0"/>
              <a:t>t</a:t>
            </a:r>
            <a:r>
              <a:rPr lang="en-US" sz="100" dirty="0" smtClean="0"/>
              <a:t> </a:t>
            </a:r>
            <a:r>
              <a:rPr lang="en-US" sz="2200" dirty="0" err="1" smtClean="0"/>
              <a:t>t</a:t>
            </a:r>
            <a:r>
              <a:rPr lang="en-US" sz="100" dirty="0" smtClean="0"/>
              <a:t> </a:t>
            </a:r>
            <a:r>
              <a:rPr lang="en-US" sz="2200" dirty="0" smtClean="0"/>
              <a:t>p</a:t>
            </a:r>
            <a:r>
              <a:rPr lang="en-US" sz="100" dirty="0" smtClean="0"/>
              <a:t> </a:t>
            </a:r>
            <a:r>
              <a:rPr lang="en-US" sz="2200" dirty="0" smtClean="0"/>
              <a:t>s://</a:t>
            </a:r>
          </a:p>
          <a:p>
            <a:r>
              <a:rPr lang="en-US" sz="2200" dirty="0" smtClean="0"/>
              <a:t>Documented in R</a:t>
            </a:r>
            <a:r>
              <a:rPr lang="en-US" sz="100" dirty="0" smtClean="0"/>
              <a:t> </a:t>
            </a:r>
            <a:r>
              <a:rPr lang="en-US" sz="2200" dirty="0" smtClean="0"/>
              <a:t>F</a:t>
            </a:r>
            <a:r>
              <a:rPr lang="en-US" sz="100" dirty="0" smtClean="0"/>
              <a:t> </a:t>
            </a:r>
            <a:r>
              <a:rPr lang="en-US" sz="2200" dirty="0" smtClean="0"/>
              <a:t>C 2818, H</a:t>
            </a:r>
            <a:r>
              <a:rPr lang="en-US" sz="100" dirty="0" smtClean="0"/>
              <a:t> </a:t>
            </a:r>
            <a:r>
              <a:rPr lang="en-US" sz="2200" dirty="0" smtClean="0"/>
              <a:t>T</a:t>
            </a:r>
            <a:r>
              <a:rPr lang="en-US" sz="100" dirty="0" smtClean="0"/>
              <a:t> </a:t>
            </a:r>
            <a:r>
              <a:rPr lang="en-US" sz="2200" dirty="0" err="1" smtClean="0"/>
              <a:t>T</a:t>
            </a:r>
            <a:r>
              <a:rPr lang="en-US" sz="100" dirty="0" smtClean="0"/>
              <a:t> </a:t>
            </a:r>
            <a:r>
              <a:rPr lang="en-US" sz="2200" dirty="0" smtClean="0"/>
              <a:t>P Over T</a:t>
            </a:r>
            <a:r>
              <a:rPr lang="en-US" sz="100" dirty="0" smtClean="0"/>
              <a:t> </a:t>
            </a:r>
            <a:r>
              <a:rPr lang="en-US" sz="2200" dirty="0" smtClean="0"/>
              <a:t>L</a:t>
            </a:r>
            <a:r>
              <a:rPr lang="en-US" sz="100" dirty="0" smtClean="0"/>
              <a:t> </a:t>
            </a:r>
            <a:r>
              <a:rPr lang="en-US" sz="2200" dirty="0" smtClean="0"/>
              <a:t>S</a:t>
            </a:r>
          </a:p>
          <a:p>
            <a:r>
              <a:rPr lang="en-US" sz="2200" dirty="0" smtClean="0"/>
              <a:t>Agent acting as the H</a:t>
            </a:r>
            <a:r>
              <a:rPr lang="en-US" sz="100" dirty="0" smtClean="0"/>
              <a:t> </a:t>
            </a:r>
            <a:r>
              <a:rPr lang="en-US" sz="2200" dirty="0" smtClean="0"/>
              <a:t>T</a:t>
            </a:r>
            <a:r>
              <a:rPr lang="en-US" sz="100" dirty="0" smtClean="0"/>
              <a:t> </a:t>
            </a:r>
            <a:r>
              <a:rPr lang="en-US" sz="2200" dirty="0" err="1" smtClean="0"/>
              <a:t>T</a:t>
            </a:r>
            <a:r>
              <a:rPr lang="en-US" sz="100" dirty="0" smtClean="0"/>
              <a:t> </a:t>
            </a:r>
            <a:r>
              <a:rPr lang="en-US" sz="2200" dirty="0" smtClean="0"/>
              <a:t>P client also acts as the T</a:t>
            </a:r>
            <a:r>
              <a:rPr lang="en-US" sz="100" dirty="0" smtClean="0"/>
              <a:t> </a:t>
            </a:r>
            <a:r>
              <a:rPr lang="en-US" sz="2200" dirty="0" smtClean="0"/>
              <a:t>L</a:t>
            </a:r>
            <a:r>
              <a:rPr lang="en-US" sz="100" dirty="0" smtClean="0"/>
              <a:t> </a:t>
            </a:r>
            <a:r>
              <a:rPr lang="en-US" sz="2200" dirty="0" smtClean="0"/>
              <a:t>S client</a:t>
            </a:r>
          </a:p>
          <a:p>
            <a:r>
              <a:rPr lang="en-US" sz="2200" dirty="0" smtClean="0"/>
              <a:t>Closure of an H</a:t>
            </a:r>
            <a:r>
              <a:rPr lang="en-US" sz="100" dirty="0" smtClean="0"/>
              <a:t> </a:t>
            </a:r>
            <a:r>
              <a:rPr lang="en-US" sz="2200" dirty="0" smtClean="0"/>
              <a:t>T</a:t>
            </a:r>
            <a:r>
              <a:rPr lang="en-US" sz="100" dirty="0" smtClean="0"/>
              <a:t> </a:t>
            </a:r>
            <a:r>
              <a:rPr lang="en-US" sz="2200" dirty="0" err="1" smtClean="0"/>
              <a:t>T</a:t>
            </a:r>
            <a:r>
              <a:rPr lang="en-US" sz="100" dirty="0" smtClean="0"/>
              <a:t> </a:t>
            </a:r>
            <a:r>
              <a:rPr lang="en-US" sz="2200" dirty="0" smtClean="0"/>
              <a:t>P</a:t>
            </a:r>
            <a:r>
              <a:rPr lang="en-US" sz="100" dirty="0" smtClean="0"/>
              <a:t> </a:t>
            </a:r>
            <a:r>
              <a:rPr lang="en-US" sz="2200" dirty="0" smtClean="0"/>
              <a:t>S connection requires that T</a:t>
            </a:r>
            <a:r>
              <a:rPr lang="en-US" sz="100" dirty="0" smtClean="0"/>
              <a:t> </a:t>
            </a:r>
            <a:r>
              <a:rPr lang="en-US" sz="2200" dirty="0" smtClean="0"/>
              <a:t>L</a:t>
            </a:r>
            <a:r>
              <a:rPr lang="en-US" sz="100" dirty="0" smtClean="0"/>
              <a:t> </a:t>
            </a:r>
            <a:r>
              <a:rPr lang="en-US" sz="2200" dirty="0" smtClean="0"/>
              <a:t>S close the connection with the peer T</a:t>
            </a:r>
            <a:r>
              <a:rPr lang="en-US" sz="100" dirty="0" smtClean="0"/>
              <a:t> </a:t>
            </a:r>
            <a:r>
              <a:rPr lang="en-US" sz="2200" dirty="0" smtClean="0"/>
              <a:t>L</a:t>
            </a:r>
            <a:r>
              <a:rPr lang="en-US" sz="100" dirty="0" smtClean="0"/>
              <a:t> </a:t>
            </a:r>
            <a:r>
              <a:rPr lang="en-US" sz="2200" dirty="0" smtClean="0"/>
              <a:t>S entity on the remote side, which will involve closing the underlying T</a:t>
            </a:r>
            <a:r>
              <a:rPr lang="en-US" sz="100" dirty="0" smtClean="0"/>
              <a:t> </a:t>
            </a:r>
            <a:r>
              <a:rPr lang="en-US" sz="2200" dirty="0" smtClean="0"/>
              <a:t>C</a:t>
            </a:r>
            <a:r>
              <a:rPr lang="en-US" sz="100" dirty="0" smtClean="0"/>
              <a:t> </a:t>
            </a:r>
            <a:r>
              <a:rPr lang="en-US" sz="2200" dirty="0" smtClean="0"/>
              <a:t>P connection</a:t>
            </a:r>
            <a:endParaRPr lang="en-US" sz="2200" dirty="0"/>
          </a:p>
        </p:txBody>
      </p:sp>
    </p:spTree>
    <p:extLst>
      <p:ext uri="{BB962C8B-B14F-4D97-AF65-F5344CB8AC3E}">
        <p14:creationId xmlns:p14="http://schemas.microsoft.com/office/powerpoint/2010/main" val="1503897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a:t>
            </a:r>
            <a:r>
              <a:rPr lang="en-US" sz="100" dirty="0" smtClean="0"/>
              <a:t> </a:t>
            </a:r>
            <a:r>
              <a:rPr lang="en-US" dirty="0" smtClean="0"/>
              <a:t>P Security (I</a:t>
            </a:r>
            <a:r>
              <a:rPr lang="en-US" sz="100" dirty="0" smtClean="0"/>
              <a:t> </a:t>
            </a:r>
            <a:r>
              <a:rPr lang="en-US" dirty="0" smtClean="0"/>
              <a:t>P</a:t>
            </a:r>
            <a:r>
              <a:rPr lang="en-US" sz="100" dirty="0" smtClean="0"/>
              <a:t> </a:t>
            </a:r>
            <a:r>
              <a:rPr lang="en-US" dirty="0" smtClean="0"/>
              <a:t>sec)</a:t>
            </a:r>
            <a:endParaRPr lang="en-US" dirty="0"/>
          </a:p>
        </p:txBody>
      </p:sp>
      <p:sp>
        <p:nvSpPr>
          <p:cNvPr id="3" name="Content Placeholder 2"/>
          <p:cNvSpPr>
            <a:spLocks noGrp="1"/>
          </p:cNvSpPr>
          <p:nvPr>
            <p:ph sz="quarter" idx="13"/>
          </p:nvPr>
        </p:nvSpPr>
        <p:spPr/>
        <p:txBody>
          <a:bodyPr/>
          <a:lstStyle/>
          <a:p>
            <a:r>
              <a:rPr lang="en-US" dirty="0" smtClean="0"/>
              <a:t>Various application security mechanisms</a:t>
            </a:r>
          </a:p>
          <a:p>
            <a:pPr lvl="1"/>
            <a:r>
              <a:rPr lang="en-US" dirty="0" smtClean="0"/>
              <a:t>S/M</a:t>
            </a:r>
            <a:r>
              <a:rPr lang="en-US" sz="100" dirty="0" smtClean="0"/>
              <a:t> </a:t>
            </a:r>
            <a:r>
              <a:rPr lang="en-US" dirty="0" smtClean="0"/>
              <a:t>I</a:t>
            </a:r>
            <a:r>
              <a:rPr lang="en-US" sz="100" dirty="0" smtClean="0"/>
              <a:t> </a:t>
            </a:r>
            <a:r>
              <a:rPr lang="en-US" dirty="0" smtClean="0"/>
              <a:t>M</a:t>
            </a:r>
            <a:r>
              <a:rPr lang="en-US" sz="100" dirty="0" smtClean="0"/>
              <a:t> </a:t>
            </a:r>
            <a:r>
              <a:rPr lang="en-US" dirty="0" smtClean="0"/>
              <a:t>E, Kerberos, S</a:t>
            </a:r>
            <a:r>
              <a:rPr lang="en-US" sz="100" dirty="0" smtClean="0"/>
              <a:t> </a:t>
            </a:r>
            <a:r>
              <a:rPr lang="en-US" dirty="0" err="1" smtClean="0"/>
              <a:t>S</a:t>
            </a:r>
            <a:r>
              <a:rPr lang="en-US" sz="100" dirty="0" smtClean="0"/>
              <a:t> </a:t>
            </a:r>
            <a:r>
              <a:rPr lang="en-US" dirty="0" smtClean="0"/>
              <a:t>L/H</a:t>
            </a:r>
            <a:r>
              <a:rPr lang="en-US" sz="100" dirty="0" smtClean="0"/>
              <a:t> </a:t>
            </a:r>
            <a:r>
              <a:rPr lang="en-US" dirty="0" smtClean="0"/>
              <a:t>T</a:t>
            </a:r>
            <a:r>
              <a:rPr lang="en-US" sz="100" dirty="0" smtClean="0"/>
              <a:t> </a:t>
            </a:r>
            <a:r>
              <a:rPr lang="en-US" dirty="0" err="1" smtClean="0"/>
              <a:t>T</a:t>
            </a:r>
            <a:r>
              <a:rPr lang="en-US" sz="100" dirty="0" smtClean="0"/>
              <a:t> </a:t>
            </a:r>
            <a:r>
              <a:rPr lang="en-US" dirty="0" smtClean="0"/>
              <a:t>P</a:t>
            </a:r>
            <a:r>
              <a:rPr lang="en-US" sz="100" dirty="0" smtClean="0"/>
              <a:t> </a:t>
            </a:r>
            <a:r>
              <a:rPr lang="en-US" dirty="0" smtClean="0"/>
              <a:t>S</a:t>
            </a:r>
          </a:p>
          <a:p>
            <a:r>
              <a:rPr lang="en-US" dirty="0" smtClean="0"/>
              <a:t>Security concerns cross protocol layers</a:t>
            </a:r>
          </a:p>
          <a:p>
            <a:r>
              <a:rPr lang="en-US" dirty="0" smtClean="0"/>
              <a:t>Would like security implemented by the network for all applications</a:t>
            </a:r>
          </a:p>
          <a:p>
            <a:r>
              <a:rPr lang="en-US" dirty="0" smtClean="0"/>
              <a:t>Authentication and encryption security features included in next-generation I</a:t>
            </a:r>
            <a:r>
              <a:rPr lang="en-US" sz="100" dirty="0" smtClean="0"/>
              <a:t> </a:t>
            </a:r>
            <a:r>
              <a:rPr lang="en-US" dirty="0" smtClean="0"/>
              <a:t>P</a:t>
            </a:r>
            <a:r>
              <a:rPr lang="en-US" sz="100" dirty="0" smtClean="0"/>
              <a:t> </a:t>
            </a:r>
            <a:r>
              <a:rPr lang="en-US" dirty="0" smtClean="0"/>
              <a:t>v</a:t>
            </a:r>
            <a:r>
              <a:rPr lang="en-US" sz="100" dirty="0" smtClean="0"/>
              <a:t> </a:t>
            </a:r>
            <a:r>
              <a:rPr lang="en-US" dirty="0" smtClean="0"/>
              <a:t>6</a:t>
            </a:r>
          </a:p>
          <a:p>
            <a:r>
              <a:rPr lang="en-US" dirty="0" smtClean="0"/>
              <a:t>Also usable in existing I</a:t>
            </a:r>
            <a:r>
              <a:rPr lang="en-US" sz="100" dirty="0" smtClean="0"/>
              <a:t> </a:t>
            </a:r>
            <a:r>
              <a:rPr lang="en-US" dirty="0" smtClean="0"/>
              <a:t>P</a:t>
            </a:r>
            <a:r>
              <a:rPr lang="en-US" sz="100" dirty="0" smtClean="0"/>
              <a:t> </a:t>
            </a:r>
            <a:r>
              <a:rPr lang="en-US" dirty="0" smtClean="0"/>
              <a:t>v</a:t>
            </a:r>
            <a:r>
              <a:rPr lang="en-US" sz="100" dirty="0" smtClean="0"/>
              <a:t> </a:t>
            </a:r>
            <a:r>
              <a:rPr lang="en-US" dirty="0" smtClean="0"/>
              <a:t>4</a:t>
            </a:r>
            <a:endParaRPr lang="en-US" dirty="0"/>
          </a:p>
        </p:txBody>
      </p:sp>
    </p:spTree>
    <p:extLst>
      <p:ext uri="{BB962C8B-B14F-4D97-AF65-F5344CB8AC3E}">
        <p14:creationId xmlns:p14="http://schemas.microsoft.com/office/powerpoint/2010/main" val="691659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I</a:t>
            </a:r>
            <a:r>
              <a:rPr lang="en-US" sz="100" dirty="0" smtClean="0"/>
              <a:t> </a:t>
            </a:r>
            <a:r>
              <a:rPr lang="en-US" dirty="0" smtClean="0"/>
              <a:t>P</a:t>
            </a:r>
            <a:r>
              <a:rPr lang="en-US" sz="100" dirty="0" smtClean="0"/>
              <a:t> </a:t>
            </a:r>
            <a:r>
              <a:rPr lang="en-US" dirty="0" smtClean="0"/>
              <a:t>sec</a:t>
            </a:r>
            <a:endParaRPr lang="en-US" dirty="0"/>
          </a:p>
        </p:txBody>
      </p:sp>
      <p:sp>
        <p:nvSpPr>
          <p:cNvPr id="3" name="Content Placeholder 2"/>
          <p:cNvSpPr>
            <a:spLocks noGrp="1"/>
          </p:cNvSpPr>
          <p:nvPr>
            <p:ph sz="quarter" idx="13"/>
          </p:nvPr>
        </p:nvSpPr>
        <p:spPr/>
        <p:txBody>
          <a:bodyPr/>
          <a:lstStyle/>
          <a:p>
            <a:r>
              <a:rPr lang="en-US" dirty="0" smtClean="0"/>
              <a:t>When implemented in a firewall or router, it provides strong security to all traffic crossing the perimeter</a:t>
            </a:r>
          </a:p>
          <a:p>
            <a:r>
              <a:rPr lang="en-US" dirty="0" smtClean="0"/>
              <a:t>In a firewall it is resistant to bypass</a:t>
            </a:r>
          </a:p>
          <a:p>
            <a:r>
              <a:rPr lang="en-US" dirty="0" smtClean="0"/>
              <a:t>Below transport layer, hence transparent to applications</a:t>
            </a:r>
          </a:p>
          <a:p>
            <a:r>
              <a:rPr lang="en-US" dirty="0" smtClean="0"/>
              <a:t>Can be transparent to end users</a:t>
            </a:r>
          </a:p>
          <a:p>
            <a:r>
              <a:rPr lang="en-US" dirty="0" smtClean="0"/>
              <a:t>Can provide security for individual users</a:t>
            </a:r>
          </a:p>
          <a:p>
            <a:r>
              <a:rPr lang="en-US" dirty="0" smtClean="0"/>
              <a:t>Secures routing architecture</a:t>
            </a:r>
            <a:endParaRPr lang="en-US" dirty="0"/>
          </a:p>
        </p:txBody>
      </p:sp>
    </p:spTree>
    <p:extLst>
      <p:ext uri="{BB962C8B-B14F-4D97-AF65-F5344CB8AC3E}">
        <p14:creationId xmlns:p14="http://schemas.microsoft.com/office/powerpoint/2010/main" val="2597374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Scope of I</a:t>
            </a:r>
            <a:r>
              <a:rPr lang="en-US" sz="100" dirty="0" smtClean="0"/>
              <a:t> </a:t>
            </a:r>
            <a:r>
              <a:rPr lang="en-US" dirty="0" smtClean="0"/>
              <a:t>P</a:t>
            </a:r>
            <a:r>
              <a:rPr lang="en-US" sz="100" dirty="0" smtClean="0"/>
              <a:t> </a:t>
            </a:r>
            <a:r>
              <a:rPr lang="en-US" dirty="0" smtClean="0"/>
              <a:t>sec</a:t>
            </a:r>
            <a:endParaRPr lang="en-US" dirty="0"/>
          </a:p>
        </p:txBody>
      </p:sp>
      <p:sp>
        <p:nvSpPr>
          <p:cNvPr id="4" name="Content Placeholder 3"/>
          <p:cNvSpPr>
            <a:spLocks noGrp="1"/>
          </p:cNvSpPr>
          <p:nvPr>
            <p:ph sz="quarter" idx="13"/>
          </p:nvPr>
        </p:nvSpPr>
        <p:spPr>
          <a:xfrm>
            <a:off x="457200" y="1552574"/>
            <a:ext cx="7578436" cy="4743723"/>
          </a:xfrm>
        </p:spPr>
        <p:txBody>
          <a:bodyPr/>
          <a:lstStyle/>
          <a:p>
            <a:r>
              <a:rPr lang="en-US" sz="2000" dirty="0" smtClean="0"/>
              <a:t>Provides two main functions:</a:t>
            </a:r>
          </a:p>
          <a:p>
            <a:pPr lvl="1"/>
            <a:r>
              <a:rPr lang="en-US" sz="2000" dirty="0" smtClean="0"/>
              <a:t>A combined authentication/encryption function called Encapsulating Security Payload (E</a:t>
            </a:r>
            <a:r>
              <a:rPr lang="en-US" sz="100" dirty="0" smtClean="0"/>
              <a:t> </a:t>
            </a:r>
            <a:r>
              <a:rPr lang="en-US" sz="2000" dirty="0" smtClean="0"/>
              <a:t>S</a:t>
            </a:r>
            <a:r>
              <a:rPr lang="en-US" sz="100" dirty="0" smtClean="0"/>
              <a:t> </a:t>
            </a:r>
            <a:r>
              <a:rPr lang="en-US" sz="2000" dirty="0" smtClean="0"/>
              <a:t>P)</a:t>
            </a:r>
          </a:p>
          <a:p>
            <a:pPr lvl="1"/>
            <a:r>
              <a:rPr lang="en-US" sz="2000" dirty="0" smtClean="0"/>
              <a:t>Key exchange function</a:t>
            </a:r>
          </a:p>
          <a:p>
            <a:r>
              <a:rPr lang="en-US" sz="2000" dirty="0" smtClean="0"/>
              <a:t>Also an authentication-only function, implemented using an Authentication Header (A</a:t>
            </a:r>
            <a:r>
              <a:rPr lang="en-US" sz="100" dirty="0" smtClean="0"/>
              <a:t> </a:t>
            </a:r>
            <a:r>
              <a:rPr lang="en-US" sz="2000" dirty="0" smtClean="0"/>
              <a:t>H)</a:t>
            </a:r>
          </a:p>
          <a:p>
            <a:pPr lvl="1"/>
            <a:r>
              <a:rPr lang="en-US" sz="2000" dirty="0" smtClean="0"/>
              <a:t>Because message authentication is provided by E</a:t>
            </a:r>
            <a:r>
              <a:rPr lang="en-US" sz="100" dirty="0" smtClean="0"/>
              <a:t> </a:t>
            </a:r>
            <a:r>
              <a:rPr lang="en-US" sz="2000" dirty="0" smtClean="0"/>
              <a:t>S</a:t>
            </a:r>
            <a:r>
              <a:rPr lang="en-US" sz="100" dirty="0" smtClean="0"/>
              <a:t> </a:t>
            </a:r>
            <a:r>
              <a:rPr lang="en-US" sz="2000" dirty="0" smtClean="0"/>
              <a:t>P, the use of A</a:t>
            </a:r>
            <a:r>
              <a:rPr lang="en-US" sz="100" dirty="0" smtClean="0"/>
              <a:t> </a:t>
            </a:r>
            <a:r>
              <a:rPr lang="en-US" sz="2000" dirty="0" smtClean="0"/>
              <a:t>H is included in I</a:t>
            </a:r>
            <a:r>
              <a:rPr lang="en-US" sz="100" dirty="0" smtClean="0"/>
              <a:t> </a:t>
            </a:r>
            <a:r>
              <a:rPr lang="en-US" sz="2000" dirty="0" smtClean="0"/>
              <a:t>P secv3 for backward compatibility but should not be used in new applications</a:t>
            </a:r>
          </a:p>
          <a:p>
            <a:r>
              <a:rPr lang="en-US" sz="2000" dirty="0" smtClean="0"/>
              <a:t>V</a:t>
            </a:r>
            <a:r>
              <a:rPr lang="en-US" sz="100" dirty="0" smtClean="0"/>
              <a:t> </a:t>
            </a:r>
            <a:r>
              <a:rPr lang="en-US" sz="2000" dirty="0" smtClean="0"/>
              <a:t>P</a:t>
            </a:r>
            <a:r>
              <a:rPr lang="en-US" sz="100" dirty="0" smtClean="0"/>
              <a:t> </a:t>
            </a:r>
            <a:r>
              <a:rPr lang="en-US" sz="2000" dirty="0" smtClean="0"/>
              <a:t>Ns want both authentication and encryption</a:t>
            </a:r>
          </a:p>
          <a:p>
            <a:r>
              <a:rPr lang="en-US" sz="2000" dirty="0" smtClean="0"/>
              <a:t>Specification is quite complex</a:t>
            </a:r>
          </a:p>
          <a:p>
            <a:pPr lvl="1"/>
            <a:r>
              <a:rPr lang="en-US" sz="2000" dirty="0" smtClean="0"/>
              <a:t>Numerous R</a:t>
            </a:r>
            <a:r>
              <a:rPr lang="en-US" sz="100" dirty="0" smtClean="0"/>
              <a:t> </a:t>
            </a:r>
            <a:r>
              <a:rPr lang="en-US" sz="2000" dirty="0" smtClean="0"/>
              <a:t>F</a:t>
            </a:r>
            <a:r>
              <a:rPr lang="en-US" sz="100" dirty="0" smtClean="0"/>
              <a:t> </a:t>
            </a:r>
            <a:r>
              <a:rPr lang="en-US" sz="2000" dirty="0" smtClean="0"/>
              <a:t>C’s 2401/4302/ 4303/4306</a:t>
            </a:r>
            <a:endParaRPr lang="en-US" sz="2000" dirty="0"/>
          </a:p>
        </p:txBody>
      </p:sp>
    </p:spTree>
    <p:extLst>
      <p:ext uri="{BB962C8B-B14F-4D97-AF65-F5344CB8AC3E}">
        <p14:creationId xmlns:p14="http://schemas.microsoft.com/office/powerpoint/2010/main" val="2189926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Associations</a:t>
            </a:r>
            <a:endParaRPr lang="en-US" dirty="0"/>
          </a:p>
        </p:txBody>
      </p:sp>
      <p:sp>
        <p:nvSpPr>
          <p:cNvPr id="4" name="Content Placeholder 3"/>
          <p:cNvSpPr>
            <a:spLocks noGrp="1"/>
          </p:cNvSpPr>
          <p:nvPr>
            <p:ph sz="quarter" idx="13"/>
          </p:nvPr>
        </p:nvSpPr>
        <p:spPr>
          <a:xfrm>
            <a:off x="457200" y="1556326"/>
            <a:ext cx="4453002" cy="4525819"/>
          </a:xfrm>
        </p:spPr>
        <p:txBody>
          <a:bodyPr/>
          <a:lstStyle/>
          <a:p>
            <a:r>
              <a:rPr lang="en-US" sz="2200" dirty="0" smtClean="0"/>
              <a:t>A one-way relationship between sender and receiver that affords security for traffic flow</a:t>
            </a:r>
          </a:p>
          <a:p>
            <a:pPr lvl="1"/>
            <a:r>
              <a:rPr lang="en-US" sz="2200" dirty="0" smtClean="0"/>
              <a:t>If a peer relationship is needed for two-way secure exchange then two security associations are required</a:t>
            </a:r>
          </a:p>
          <a:p>
            <a:r>
              <a:rPr lang="en-US" sz="2200" dirty="0" smtClean="0"/>
              <a:t>Is uniquely identified by the Destination Address in the I</a:t>
            </a:r>
            <a:r>
              <a:rPr lang="en-US" sz="100" dirty="0" smtClean="0"/>
              <a:t> </a:t>
            </a:r>
            <a:r>
              <a:rPr lang="en-US" sz="2200" dirty="0" smtClean="0"/>
              <a:t>P</a:t>
            </a:r>
            <a:r>
              <a:rPr lang="en-US" sz="100" dirty="0" smtClean="0"/>
              <a:t> </a:t>
            </a:r>
            <a:r>
              <a:rPr lang="en-US" sz="2200" dirty="0" smtClean="0"/>
              <a:t>v</a:t>
            </a:r>
            <a:r>
              <a:rPr lang="en-US" sz="100" dirty="0" smtClean="0"/>
              <a:t> </a:t>
            </a:r>
            <a:r>
              <a:rPr lang="en-US" sz="2200" dirty="0" smtClean="0"/>
              <a:t>4 or I</a:t>
            </a:r>
            <a:r>
              <a:rPr lang="en-US" sz="100" dirty="0" smtClean="0"/>
              <a:t> </a:t>
            </a:r>
            <a:r>
              <a:rPr lang="en-US" sz="2200" dirty="0" smtClean="0"/>
              <a:t>P</a:t>
            </a:r>
            <a:r>
              <a:rPr lang="en-US" sz="100" dirty="0" smtClean="0"/>
              <a:t> </a:t>
            </a:r>
            <a:r>
              <a:rPr lang="en-US" sz="2200" dirty="0" smtClean="0"/>
              <a:t>v</a:t>
            </a:r>
            <a:r>
              <a:rPr lang="en-US" sz="100" dirty="0" smtClean="0"/>
              <a:t> </a:t>
            </a:r>
            <a:r>
              <a:rPr lang="en-US" sz="2200" dirty="0" smtClean="0"/>
              <a:t>6 header and the S</a:t>
            </a:r>
            <a:r>
              <a:rPr lang="en-US" sz="100" dirty="0" smtClean="0"/>
              <a:t> </a:t>
            </a:r>
            <a:r>
              <a:rPr lang="en-US" sz="2200" dirty="0" smtClean="0"/>
              <a:t>P</a:t>
            </a:r>
            <a:r>
              <a:rPr lang="en-US" sz="100" dirty="0" smtClean="0"/>
              <a:t> </a:t>
            </a:r>
            <a:r>
              <a:rPr lang="en-US" sz="2200" dirty="0" smtClean="0"/>
              <a:t>I in the enclosed extension header (A</a:t>
            </a:r>
            <a:r>
              <a:rPr lang="en-US" sz="100" dirty="0" smtClean="0"/>
              <a:t> </a:t>
            </a:r>
            <a:r>
              <a:rPr lang="en-US" sz="2200" dirty="0" smtClean="0"/>
              <a:t>H or E</a:t>
            </a:r>
            <a:r>
              <a:rPr lang="en-US" sz="100" dirty="0" smtClean="0"/>
              <a:t> </a:t>
            </a:r>
            <a:r>
              <a:rPr lang="en-US" sz="2200" dirty="0" smtClean="0"/>
              <a:t>S</a:t>
            </a:r>
            <a:r>
              <a:rPr lang="en-US" sz="100" dirty="0" smtClean="0"/>
              <a:t> </a:t>
            </a:r>
            <a:r>
              <a:rPr lang="en-US" sz="2200" dirty="0" smtClean="0"/>
              <a:t>P)</a:t>
            </a:r>
            <a:endParaRPr lang="en-US" sz="2200" dirty="0"/>
          </a:p>
        </p:txBody>
      </p:sp>
      <p:sp>
        <p:nvSpPr>
          <p:cNvPr id="5" name="Content Placeholder 4"/>
          <p:cNvSpPr>
            <a:spLocks noGrp="1"/>
          </p:cNvSpPr>
          <p:nvPr>
            <p:ph sz="quarter" idx="14"/>
          </p:nvPr>
        </p:nvSpPr>
        <p:spPr>
          <a:xfrm>
            <a:off x="5198301" y="1557338"/>
            <a:ext cx="3627043" cy="3194771"/>
          </a:xfrm>
        </p:spPr>
        <p:txBody>
          <a:bodyPr/>
          <a:lstStyle/>
          <a:p>
            <a:r>
              <a:rPr lang="en-US" sz="2200" dirty="0" smtClean="0"/>
              <a:t>Defined by 3 parameters:</a:t>
            </a:r>
          </a:p>
          <a:p>
            <a:pPr lvl="1"/>
            <a:r>
              <a:rPr lang="en-US" sz="2200" dirty="0" smtClean="0"/>
              <a:t>Security Parameter Index (S</a:t>
            </a:r>
            <a:r>
              <a:rPr lang="en-US" sz="100" dirty="0" smtClean="0"/>
              <a:t> </a:t>
            </a:r>
            <a:r>
              <a:rPr lang="en-US" sz="2200" dirty="0" smtClean="0"/>
              <a:t>P</a:t>
            </a:r>
            <a:r>
              <a:rPr lang="en-US" sz="100" dirty="0" smtClean="0"/>
              <a:t> </a:t>
            </a:r>
            <a:r>
              <a:rPr lang="en-US" sz="2200" dirty="0" smtClean="0"/>
              <a:t>I)</a:t>
            </a:r>
          </a:p>
          <a:p>
            <a:pPr lvl="1"/>
            <a:r>
              <a:rPr lang="en-US" sz="2200" dirty="0" smtClean="0"/>
              <a:t>I</a:t>
            </a:r>
            <a:r>
              <a:rPr lang="en-US" sz="100" dirty="0" smtClean="0"/>
              <a:t> </a:t>
            </a:r>
            <a:r>
              <a:rPr lang="en-US" sz="2200" dirty="0" smtClean="0"/>
              <a:t>P Destination Address</a:t>
            </a:r>
          </a:p>
          <a:p>
            <a:pPr lvl="1"/>
            <a:r>
              <a:rPr lang="en-US" sz="2200" dirty="0" smtClean="0"/>
              <a:t>Protocol Identifier</a:t>
            </a:r>
            <a:endParaRPr lang="en-US" sz="2200" dirty="0"/>
          </a:p>
        </p:txBody>
      </p:sp>
    </p:spTree>
    <p:extLst>
      <p:ext uri="{BB962C8B-B14F-4D97-AF65-F5344CB8AC3E}">
        <p14:creationId xmlns:p14="http://schemas.microsoft.com/office/powerpoint/2010/main" val="32765223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Figure 22.8 I</a:t>
            </a:r>
            <a:r>
              <a:rPr lang="en-US" sz="100" dirty="0" smtClean="0"/>
              <a:t> </a:t>
            </a:r>
            <a:r>
              <a:rPr lang="en-US" dirty="0" smtClean="0"/>
              <a:t>P</a:t>
            </a:r>
            <a:r>
              <a:rPr lang="en-US" sz="100" dirty="0" smtClean="0"/>
              <a:t> </a:t>
            </a:r>
            <a:r>
              <a:rPr lang="en-US" dirty="0" smtClean="0"/>
              <a:t>sec E</a:t>
            </a:r>
            <a:r>
              <a:rPr lang="en-US" sz="100" dirty="0" smtClean="0"/>
              <a:t> </a:t>
            </a:r>
            <a:r>
              <a:rPr lang="en-US" dirty="0" smtClean="0"/>
              <a:t>S</a:t>
            </a:r>
            <a:r>
              <a:rPr lang="en-US" sz="100" dirty="0" smtClean="0"/>
              <a:t> </a:t>
            </a:r>
            <a:r>
              <a:rPr lang="en-US" dirty="0" smtClean="0"/>
              <a:t>P Format</a:t>
            </a:r>
            <a:endParaRPr lang="en-US" dirty="0"/>
          </a:p>
        </p:txBody>
      </p:sp>
      <p:pic>
        <p:nvPicPr>
          <p:cNvPr id="4" name="Content Placeholder 3" descr="An illustration depicts the I P s e c E S P Format.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840795" y="1622303"/>
            <a:ext cx="7462411" cy="4454768"/>
          </a:xfrm>
        </p:spPr>
      </p:pic>
    </p:spTree>
    <p:extLst>
      <p:ext uri="{BB962C8B-B14F-4D97-AF65-F5344CB8AC3E}">
        <p14:creationId xmlns:p14="http://schemas.microsoft.com/office/powerpoint/2010/main" val="2350035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and Tunnel Modes</a:t>
            </a:r>
            <a:endParaRPr lang="en-US" dirty="0"/>
          </a:p>
        </p:txBody>
      </p:sp>
      <p:sp>
        <p:nvSpPr>
          <p:cNvPr id="4" name="Content Placeholder 3"/>
          <p:cNvSpPr>
            <a:spLocks noGrp="1"/>
          </p:cNvSpPr>
          <p:nvPr>
            <p:ph sz="quarter" idx="13"/>
          </p:nvPr>
        </p:nvSpPr>
        <p:spPr>
          <a:xfrm>
            <a:off x="457201" y="1556326"/>
            <a:ext cx="2724410" cy="4726908"/>
          </a:xfrm>
        </p:spPr>
        <p:txBody>
          <a:bodyPr/>
          <a:lstStyle/>
          <a:p>
            <a:pPr marL="432" indent="0">
              <a:buNone/>
            </a:pPr>
            <a:r>
              <a:rPr lang="en-US" sz="2000" dirty="0" smtClean="0"/>
              <a:t>Transport Mode</a:t>
            </a:r>
          </a:p>
          <a:p>
            <a:r>
              <a:rPr lang="en-US" sz="2000" dirty="0" smtClean="0"/>
              <a:t>Extends to the payload of an I</a:t>
            </a:r>
            <a:r>
              <a:rPr lang="en-US" sz="100" dirty="0" smtClean="0"/>
              <a:t> </a:t>
            </a:r>
            <a:r>
              <a:rPr lang="en-US" sz="2000" dirty="0" smtClean="0"/>
              <a:t>P packet</a:t>
            </a:r>
          </a:p>
          <a:p>
            <a:r>
              <a:rPr lang="en-US" sz="2000" dirty="0" smtClean="0"/>
              <a:t>Typically used for end-to-end communication between two hosts</a:t>
            </a:r>
          </a:p>
          <a:p>
            <a:r>
              <a:rPr lang="en-US" sz="2000" dirty="0" smtClean="0"/>
              <a:t>E</a:t>
            </a:r>
            <a:r>
              <a:rPr lang="en-US" sz="100" dirty="0" smtClean="0"/>
              <a:t> </a:t>
            </a:r>
            <a:r>
              <a:rPr lang="en-US" sz="2000" dirty="0" smtClean="0"/>
              <a:t>S</a:t>
            </a:r>
            <a:r>
              <a:rPr lang="en-US" sz="100" dirty="0" smtClean="0"/>
              <a:t> </a:t>
            </a:r>
            <a:r>
              <a:rPr lang="en-US" sz="2000" dirty="0" smtClean="0"/>
              <a:t>P encrypts and optionally authenticates the I</a:t>
            </a:r>
            <a:r>
              <a:rPr lang="en-US" sz="100" dirty="0" smtClean="0"/>
              <a:t> </a:t>
            </a:r>
            <a:r>
              <a:rPr lang="en-US" sz="2000" dirty="0" smtClean="0"/>
              <a:t>P payload but not the I</a:t>
            </a:r>
            <a:r>
              <a:rPr lang="en-US" sz="100" dirty="0" smtClean="0"/>
              <a:t> </a:t>
            </a:r>
            <a:r>
              <a:rPr lang="en-US" sz="2000" dirty="0" smtClean="0"/>
              <a:t>P header</a:t>
            </a:r>
            <a:endParaRPr lang="en-US" sz="2000" dirty="0"/>
          </a:p>
        </p:txBody>
      </p:sp>
      <p:sp>
        <p:nvSpPr>
          <p:cNvPr id="5" name="Content Placeholder 4"/>
          <p:cNvSpPr>
            <a:spLocks noGrp="1"/>
          </p:cNvSpPr>
          <p:nvPr>
            <p:ph sz="quarter" idx="14"/>
          </p:nvPr>
        </p:nvSpPr>
        <p:spPr>
          <a:xfrm>
            <a:off x="3388648" y="1556326"/>
            <a:ext cx="5454906" cy="4073765"/>
          </a:xfrm>
        </p:spPr>
        <p:txBody>
          <a:bodyPr/>
          <a:lstStyle/>
          <a:p>
            <a:pPr marL="432" indent="0">
              <a:buNone/>
            </a:pPr>
            <a:r>
              <a:rPr lang="en-US" sz="2000" dirty="0" smtClean="0"/>
              <a:t>Tunnel Mode</a:t>
            </a:r>
          </a:p>
          <a:p>
            <a:r>
              <a:rPr lang="en-US" sz="2000" dirty="0" smtClean="0"/>
              <a:t>Provides protection to the entire I</a:t>
            </a:r>
            <a:r>
              <a:rPr lang="en-US" sz="100" dirty="0" smtClean="0"/>
              <a:t> </a:t>
            </a:r>
            <a:r>
              <a:rPr lang="en-US" sz="2000" dirty="0" smtClean="0"/>
              <a:t>P packet</a:t>
            </a:r>
          </a:p>
          <a:p>
            <a:r>
              <a:rPr lang="en-US" sz="2000" dirty="0" smtClean="0"/>
              <a:t>The entire original packet travels through a tunnel from one point of an I</a:t>
            </a:r>
            <a:r>
              <a:rPr lang="en-US" sz="100" dirty="0" smtClean="0"/>
              <a:t> </a:t>
            </a:r>
            <a:r>
              <a:rPr lang="en-US" sz="2000" dirty="0" smtClean="0"/>
              <a:t>P network to another</a:t>
            </a:r>
          </a:p>
          <a:p>
            <a:r>
              <a:rPr lang="en-US" sz="2000" dirty="0" smtClean="0"/>
              <a:t>Used when one or both ends of a security association are a security gateway</a:t>
            </a:r>
          </a:p>
          <a:p>
            <a:r>
              <a:rPr lang="en-US" sz="2000" dirty="0" smtClean="0"/>
              <a:t>A number of hosts on networks behind firewalls may engage in secure communications without implementing IPsec</a:t>
            </a:r>
            <a:endParaRPr lang="en-US" sz="2000" dirty="0"/>
          </a:p>
        </p:txBody>
      </p:sp>
    </p:spTree>
    <p:extLst>
      <p:ext uri="{BB962C8B-B14F-4D97-AF65-F5344CB8AC3E}">
        <p14:creationId xmlns:p14="http://schemas.microsoft.com/office/powerpoint/2010/main" val="14747213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4" name="Content Placeholder 3"/>
          <p:cNvSpPr>
            <a:spLocks noGrp="1"/>
          </p:cNvSpPr>
          <p:nvPr>
            <p:ph sz="quarter" idx="13"/>
          </p:nvPr>
        </p:nvSpPr>
        <p:spPr>
          <a:xfrm>
            <a:off x="457200" y="1556327"/>
            <a:ext cx="3801649" cy="4553528"/>
          </a:xfrm>
        </p:spPr>
        <p:txBody>
          <a:bodyPr/>
          <a:lstStyle/>
          <a:p>
            <a:r>
              <a:rPr lang="en-US" sz="2000" dirty="0" smtClean="0"/>
              <a:t>Secure E-mail and S/M</a:t>
            </a:r>
            <a:r>
              <a:rPr lang="en-US" sz="100" dirty="0" smtClean="0"/>
              <a:t> </a:t>
            </a:r>
            <a:r>
              <a:rPr lang="en-US" sz="2000" dirty="0" smtClean="0"/>
              <a:t>I</a:t>
            </a:r>
            <a:r>
              <a:rPr lang="en-US" sz="100" dirty="0" smtClean="0"/>
              <a:t> </a:t>
            </a:r>
            <a:r>
              <a:rPr lang="en-US" sz="2000" dirty="0" smtClean="0"/>
              <a:t>M</a:t>
            </a:r>
            <a:r>
              <a:rPr lang="en-US" sz="100" dirty="0" smtClean="0"/>
              <a:t> </a:t>
            </a:r>
            <a:r>
              <a:rPr lang="en-US" sz="2000" dirty="0" smtClean="0"/>
              <a:t>E</a:t>
            </a:r>
          </a:p>
          <a:p>
            <a:pPr lvl="1"/>
            <a:r>
              <a:rPr lang="en-US" sz="2000" dirty="0" smtClean="0"/>
              <a:t>M</a:t>
            </a:r>
            <a:r>
              <a:rPr lang="en-US" sz="100" dirty="0" smtClean="0"/>
              <a:t> </a:t>
            </a:r>
            <a:r>
              <a:rPr lang="en-US" sz="2000" dirty="0" smtClean="0"/>
              <a:t>I</a:t>
            </a:r>
            <a:r>
              <a:rPr lang="en-US" sz="100" dirty="0" smtClean="0"/>
              <a:t> </a:t>
            </a:r>
            <a:r>
              <a:rPr lang="en-US" sz="2000" dirty="0" smtClean="0"/>
              <a:t>M</a:t>
            </a:r>
            <a:r>
              <a:rPr lang="en-US" sz="100" dirty="0" smtClean="0"/>
              <a:t> </a:t>
            </a:r>
            <a:r>
              <a:rPr lang="en-US" sz="2000" dirty="0" smtClean="0"/>
              <a:t>E</a:t>
            </a:r>
          </a:p>
          <a:p>
            <a:pPr lvl="1"/>
            <a:r>
              <a:rPr lang="en-US" sz="2000" dirty="0" smtClean="0"/>
              <a:t>S/M</a:t>
            </a:r>
            <a:r>
              <a:rPr lang="en-US" sz="100" dirty="0" smtClean="0"/>
              <a:t> </a:t>
            </a:r>
            <a:r>
              <a:rPr lang="en-US" sz="2000" dirty="0" smtClean="0"/>
              <a:t>I</a:t>
            </a:r>
            <a:r>
              <a:rPr lang="en-US" sz="100" dirty="0" smtClean="0"/>
              <a:t> </a:t>
            </a:r>
            <a:r>
              <a:rPr lang="en-US" sz="2000" dirty="0" smtClean="0"/>
              <a:t>M</a:t>
            </a:r>
            <a:r>
              <a:rPr lang="en-US" sz="100" dirty="0" smtClean="0"/>
              <a:t> </a:t>
            </a:r>
            <a:r>
              <a:rPr lang="en-US" sz="2000" dirty="0" smtClean="0"/>
              <a:t>E</a:t>
            </a:r>
          </a:p>
          <a:p>
            <a:r>
              <a:rPr lang="en-US" sz="2000" dirty="0" err="1" smtClean="0"/>
              <a:t>DomainKeys</a:t>
            </a:r>
            <a:r>
              <a:rPr lang="en-US" sz="2000" dirty="0" smtClean="0"/>
              <a:t> identified mail</a:t>
            </a:r>
          </a:p>
          <a:p>
            <a:pPr lvl="1"/>
            <a:r>
              <a:rPr lang="en-US" sz="2000" dirty="0" smtClean="0"/>
              <a:t>Internet mail architecture</a:t>
            </a:r>
          </a:p>
          <a:p>
            <a:pPr lvl="1"/>
            <a:r>
              <a:rPr lang="en-US" sz="2000" dirty="0" smtClean="0"/>
              <a:t>D</a:t>
            </a:r>
            <a:r>
              <a:rPr lang="en-US" sz="100" dirty="0" smtClean="0"/>
              <a:t> </a:t>
            </a:r>
            <a:r>
              <a:rPr lang="en-US" sz="2000" dirty="0" smtClean="0"/>
              <a:t>K</a:t>
            </a:r>
            <a:r>
              <a:rPr lang="en-US" sz="100" dirty="0" smtClean="0"/>
              <a:t> </a:t>
            </a:r>
            <a:r>
              <a:rPr lang="en-US" sz="2000" dirty="0" smtClean="0"/>
              <a:t>I</a:t>
            </a:r>
            <a:r>
              <a:rPr lang="en-US" sz="100" dirty="0" smtClean="0"/>
              <a:t> </a:t>
            </a:r>
            <a:r>
              <a:rPr lang="en-US" sz="2000" dirty="0" smtClean="0"/>
              <a:t>M strategy</a:t>
            </a:r>
          </a:p>
          <a:p>
            <a:r>
              <a:rPr lang="en-US" sz="2000" dirty="0" smtClean="0"/>
              <a:t>S</a:t>
            </a:r>
            <a:r>
              <a:rPr lang="en-US" sz="100" dirty="0" smtClean="0"/>
              <a:t> </a:t>
            </a:r>
            <a:r>
              <a:rPr lang="en-US" sz="2000" dirty="0" err="1" smtClean="0"/>
              <a:t>S</a:t>
            </a:r>
            <a:r>
              <a:rPr lang="en-US" sz="100" dirty="0" smtClean="0"/>
              <a:t> </a:t>
            </a:r>
            <a:r>
              <a:rPr lang="en-US" sz="2000" dirty="0" smtClean="0"/>
              <a:t>L and T</a:t>
            </a:r>
            <a:r>
              <a:rPr lang="en-US" sz="100" dirty="0" smtClean="0"/>
              <a:t> </a:t>
            </a:r>
            <a:r>
              <a:rPr lang="en-US" sz="2000" dirty="0" smtClean="0"/>
              <a:t>L</a:t>
            </a:r>
            <a:r>
              <a:rPr lang="en-US" sz="100" dirty="0" smtClean="0"/>
              <a:t> </a:t>
            </a:r>
            <a:r>
              <a:rPr lang="en-US" sz="2000" dirty="0" smtClean="0"/>
              <a:t>S</a:t>
            </a:r>
          </a:p>
          <a:p>
            <a:pPr lvl="1"/>
            <a:r>
              <a:rPr lang="en-US" sz="2000" dirty="0" smtClean="0"/>
              <a:t>T</a:t>
            </a:r>
            <a:r>
              <a:rPr lang="en-US" sz="100" dirty="0" smtClean="0"/>
              <a:t> </a:t>
            </a:r>
            <a:r>
              <a:rPr lang="en-US" sz="2000" dirty="0" smtClean="0"/>
              <a:t>L</a:t>
            </a:r>
            <a:r>
              <a:rPr lang="en-US" sz="100" dirty="0" smtClean="0"/>
              <a:t> </a:t>
            </a:r>
            <a:r>
              <a:rPr lang="en-US" sz="2000" dirty="0" smtClean="0"/>
              <a:t>S architecture</a:t>
            </a:r>
          </a:p>
          <a:p>
            <a:pPr lvl="1"/>
            <a:r>
              <a:rPr lang="en-US" sz="2000" dirty="0" smtClean="0"/>
              <a:t>T</a:t>
            </a:r>
            <a:r>
              <a:rPr lang="en-US" sz="100" dirty="0" smtClean="0"/>
              <a:t> </a:t>
            </a:r>
            <a:r>
              <a:rPr lang="en-US" sz="2000" dirty="0" smtClean="0"/>
              <a:t>L</a:t>
            </a:r>
            <a:r>
              <a:rPr lang="en-US" sz="100" dirty="0" smtClean="0"/>
              <a:t> </a:t>
            </a:r>
            <a:r>
              <a:rPr lang="en-US" sz="2000" dirty="0" smtClean="0"/>
              <a:t>S protocols</a:t>
            </a:r>
          </a:p>
          <a:p>
            <a:pPr lvl="1"/>
            <a:r>
              <a:rPr lang="en-US" sz="2000" dirty="0" smtClean="0"/>
              <a:t>T</a:t>
            </a:r>
            <a:r>
              <a:rPr lang="en-US" sz="100" dirty="0" smtClean="0"/>
              <a:t> </a:t>
            </a:r>
            <a:r>
              <a:rPr lang="en-US" sz="2000" dirty="0" smtClean="0"/>
              <a:t>L</a:t>
            </a:r>
            <a:r>
              <a:rPr lang="en-US" sz="100" dirty="0" smtClean="0"/>
              <a:t> </a:t>
            </a:r>
            <a:r>
              <a:rPr lang="en-US" sz="2000" dirty="0" smtClean="0"/>
              <a:t>S attacks</a:t>
            </a:r>
          </a:p>
          <a:p>
            <a:pPr lvl="1"/>
            <a:r>
              <a:rPr lang="en-US" sz="2000" dirty="0" smtClean="0"/>
              <a:t>S</a:t>
            </a:r>
            <a:r>
              <a:rPr lang="en-US" sz="100" dirty="0" smtClean="0"/>
              <a:t> </a:t>
            </a:r>
            <a:r>
              <a:rPr lang="en-US" sz="2000" dirty="0" err="1" smtClean="0"/>
              <a:t>S</a:t>
            </a:r>
            <a:r>
              <a:rPr lang="en-US" sz="100" dirty="0" smtClean="0"/>
              <a:t> </a:t>
            </a:r>
            <a:r>
              <a:rPr lang="en-US" sz="2000" dirty="0" smtClean="0"/>
              <a:t>L/T</a:t>
            </a:r>
            <a:r>
              <a:rPr lang="en-US" sz="100" dirty="0" smtClean="0"/>
              <a:t> </a:t>
            </a:r>
            <a:r>
              <a:rPr lang="en-US" sz="2000" dirty="0" smtClean="0"/>
              <a:t>L</a:t>
            </a:r>
            <a:r>
              <a:rPr lang="en-US" sz="100" dirty="0" smtClean="0"/>
              <a:t> </a:t>
            </a:r>
            <a:r>
              <a:rPr lang="en-US" sz="2000" dirty="0" smtClean="0"/>
              <a:t>S attacks</a:t>
            </a:r>
            <a:endParaRPr lang="en-US" sz="2000" dirty="0"/>
          </a:p>
        </p:txBody>
      </p:sp>
      <p:sp>
        <p:nvSpPr>
          <p:cNvPr id="5" name="Content Placeholder 4"/>
          <p:cNvSpPr>
            <a:spLocks noGrp="1"/>
          </p:cNvSpPr>
          <p:nvPr>
            <p:ph sz="quarter" idx="14"/>
          </p:nvPr>
        </p:nvSpPr>
        <p:spPr>
          <a:xfrm>
            <a:off x="4534422" y="1557338"/>
            <a:ext cx="3858016" cy="4303135"/>
          </a:xfrm>
        </p:spPr>
        <p:txBody>
          <a:bodyPr/>
          <a:lstStyle/>
          <a:p>
            <a:r>
              <a:rPr lang="en-US" sz="2000" dirty="0" smtClean="0"/>
              <a:t>H</a:t>
            </a:r>
            <a:r>
              <a:rPr lang="en-US" sz="100" dirty="0" smtClean="0"/>
              <a:t> </a:t>
            </a:r>
            <a:r>
              <a:rPr lang="en-US" sz="2000" dirty="0" smtClean="0"/>
              <a:t>T</a:t>
            </a:r>
            <a:r>
              <a:rPr lang="en-US" sz="100" dirty="0" smtClean="0"/>
              <a:t> </a:t>
            </a:r>
            <a:r>
              <a:rPr lang="en-US" sz="2000" dirty="0" err="1" smtClean="0"/>
              <a:t>T</a:t>
            </a:r>
            <a:r>
              <a:rPr lang="en-US" sz="100" dirty="0" smtClean="0"/>
              <a:t> </a:t>
            </a:r>
            <a:r>
              <a:rPr lang="en-US" sz="2000" dirty="0" smtClean="0"/>
              <a:t>P</a:t>
            </a:r>
            <a:r>
              <a:rPr lang="en-US" sz="100" dirty="0" smtClean="0"/>
              <a:t> </a:t>
            </a:r>
            <a:r>
              <a:rPr lang="en-US" sz="2000" dirty="0" smtClean="0"/>
              <a:t>S</a:t>
            </a:r>
          </a:p>
          <a:p>
            <a:pPr lvl="1"/>
            <a:r>
              <a:rPr lang="en-US" sz="2000" dirty="0" smtClean="0"/>
              <a:t>Connection institution</a:t>
            </a:r>
          </a:p>
          <a:p>
            <a:pPr lvl="1"/>
            <a:r>
              <a:rPr lang="en-US" sz="2000" dirty="0" smtClean="0"/>
              <a:t>Connection closure</a:t>
            </a:r>
          </a:p>
          <a:p>
            <a:r>
              <a:rPr lang="en-US" sz="2000" dirty="0" smtClean="0"/>
              <a:t>I</a:t>
            </a:r>
            <a:r>
              <a:rPr lang="en-US" sz="100" dirty="0" smtClean="0"/>
              <a:t> </a:t>
            </a:r>
            <a:r>
              <a:rPr lang="en-US" sz="2000" dirty="0" smtClean="0"/>
              <a:t>P</a:t>
            </a:r>
            <a:r>
              <a:rPr lang="en-US" sz="100" dirty="0" smtClean="0"/>
              <a:t> </a:t>
            </a:r>
            <a:r>
              <a:rPr lang="en-US" sz="2000" dirty="0" smtClean="0"/>
              <a:t>v4 and I</a:t>
            </a:r>
            <a:r>
              <a:rPr lang="en-US" sz="100" dirty="0" smtClean="0"/>
              <a:t> </a:t>
            </a:r>
            <a:r>
              <a:rPr lang="en-US" sz="2000" dirty="0" smtClean="0"/>
              <a:t>P</a:t>
            </a:r>
            <a:r>
              <a:rPr lang="en-US" sz="100" dirty="0" smtClean="0"/>
              <a:t> </a:t>
            </a:r>
            <a:r>
              <a:rPr lang="en-US" sz="2000" dirty="0" smtClean="0"/>
              <a:t>v6 security</a:t>
            </a:r>
          </a:p>
          <a:p>
            <a:pPr lvl="1"/>
            <a:r>
              <a:rPr lang="en-US" sz="2000" dirty="0" smtClean="0"/>
              <a:t>I</a:t>
            </a:r>
            <a:r>
              <a:rPr lang="en-US" sz="100" dirty="0" smtClean="0"/>
              <a:t> </a:t>
            </a:r>
            <a:r>
              <a:rPr lang="en-US" sz="2000" dirty="0" smtClean="0"/>
              <a:t>P security overview</a:t>
            </a:r>
          </a:p>
          <a:p>
            <a:pPr lvl="1"/>
            <a:r>
              <a:rPr lang="en-US" sz="2000" dirty="0" smtClean="0"/>
              <a:t>The scope of I</a:t>
            </a:r>
            <a:r>
              <a:rPr lang="en-US" sz="100" dirty="0" smtClean="0"/>
              <a:t> </a:t>
            </a:r>
            <a:r>
              <a:rPr lang="en-US" sz="2000" dirty="0" smtClean="0"/>
              <a:t>P</a:t>
            </a:r>
            <a:r>
              <a:rPr lang="en-US" sz="100" dirty="0" smtClean="0"/>
              <a:t> </a:t>
            </a:r>
            <a:r>
              <a:rPr lang="en-US" sz="2000" dirty="0" smtClean="0"/>
              <a:t>sec</a:t>
            </a:r>
          </a:p>
          <a:p>
            <a:pPr lvl="1"/>
            <a:r>
              <a:rPr lang="en-US" sz="2000" dirty="0" smtClean="0"/>
              <a:t>Security associations</a:t>
            </a:r>
          </a:p>
          <a:p>
            <a:pPr lvl="1"/>
            <a:r>
              <a:rPr lang="en-US" sz="2000" dirty="0" smtClean="0"/>
              <a:t>Encapsulating security payload</a:t>
            </a:r>
          </a:p>
          <a:p>
            <a:pPr lvl="1"/>
            <a:r>
              <a:rPr lang="en-US" sz="2000" dirty="0" smtClean="0"/>
              <a:t>Transport and tunnel modes</a:t>
            </a:r>
            <a:endParaRPr lang="en-US" sz="2000" dirty="0"/>
          </a:p>
        </p:txBody>
      </p:sp>
    </p:spTree>
    <p:extLst>
      <p:ext uri="{BB962C8B-B14F-4D97-AF65-F5344CB8AC3E}">
        <p14:creationId xmlns:p14="http://schemas.microsoft.com/office/powerpoint/2010/main" val="3187506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7c1bd8dc-4e40-424f-a15f-9ffcd522197f">
      <UserInfo>
        <DisplayName/>
        <AccountId xsi:nil="true"/>
        <AccountType/>
      </UserInfo>
    </SharedWithUsers>
    <MediaLengthInSeconds xmlns="6125ffc9-2c56-435e-8267-1393444907b2" xsi:nil="true"/>
  </documentManagement>
</p:properties>
</file>

<file path=customXml/itemProps1.xml><?xml version="1.0" encoding="utf-8"?>
<ds:datastoreItem xmlns:ds="http://schemas.openxmlformats.org/officeDocument/2006/customXml" ds:itemID="{3836E74C-B588-47A2-A5BD-E11571ED907A}"/>
</file>

<file path=customXml/itemProps2.xml><?xml version="1.0" encoding="utf-8"?>
<ds:datastoreItem xmlns:ds="http://schemas.openxmlformats.org/officeDocument/2006/customXml" ds:itemID="{D3C27F88-84DB-4D18-A857-A1D6C2CEFD6E}"/>
</file>

<file path=customXml/itemProps3.xml><?xml version="1.0" encoding="utf-8"?>
<ds:datastoreItem xmlns:ds="http://schemas.openxmlformats.org/officeDocument/2006/customXml" ds:itemID="{2FFE98DA-6410-4CD1-9687-60A360F91714}"/>
</file>

<file path=docProps/app.xml><?xml version="1.0" encoding="utf-8"?>
<Properties xmlns="http://schemas.openxmlformats.org/officeDocument/2006/extended-properties" xmlns:vt="http://schemas.openxmlformats.org/officeDocument/2006/docPropsVTypes">
  <TotalTime>147864</TotalTime>
  <Words>8925</Words>
  <Application>Microsoft Office PowerPoint</Application>
  <PresentationFormat>On-screen Show (4:3)</PresentationFormat>
  <Paragraphs>519</Paragraphs>
  <Slides>30</Slides>
  <Notes>30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Times New Roman</vt:lpstr>
      <vt:lpstr>Verdana</vt:lpstr>
      <vt:lpstr>Times</vt:lpstr>
      <vt:lpstr>Arial</vt:lpstr>
      <vt:lpstr>Noto Sans Symbols</vt:lpstr>
      <vt:lpstr>Calibri</vt:lpstr>
      <vt:lpstr>USHE</vt:lpstr>
      <vt:lpstr>USHE_slide options</vt:lpstr>
      <vt:lpstr>Computer Security: Principles and Practice</vt:lpstr>
      <vt:lpstr>M I M E and S/M I M E</vt:lpstr>
      <vt:lpstr>Table 22.1 S/M I M E Content Types</vt:lpstr>
      <vt:lpstr>S/M I M E Functions</vt:lpstr>
      <vt:lpstr>Figure 22.1 Simplified S/M I M E Functional Flow</vt:lpstr>
      <vt:lpstr>Signed and Clear-Signed Data</vt:lpstr>
      <vt:lpstr>Enveloped Data</vt:lpstr>
      <vt:lpstr>DomainKeys Identified Mail (D K I M)</vt:lpstr>
      <vt:lpstr>Figure 22.2 Function Modules and Standardized Protocols Used Between Them in the Internet Mail Architecture</vt:lpstr>
      <vt:lpstr>Figure 22.3 Simple Example of D K I M Deployment</vt:lpstr>
      <vt:lpstr>Secure Sockets Layer (S S L) and Transport Layer Security (T L S)</vt:lpstr>
      <vt:lpstr>Figure 22.4 S S L/T L S Protocol Stack</vt:lpstr>
      <vt:lpstr>T L S Concepts</vt:lpstr>
      <vt:lpstr>Figure 22.5 T L S Record Protocol Operation</vt:lpstr>
      <vt:lpstr>Change Cipher Spec Protocol</vt:lpstr>
      <vt:lpstr>Alert Protocol</vt:lpstr>
      <vt:lpstr>Handshake Protocol</vt:lpstr>
      <vt:lpstr>Figure 22.6 Handshake Protocol Action</vt:lpstr>
      <vt:lpstr>Heartbeat Protocol</vt:lpstr>
      <vt:lpstr>S S L/T L S Attacks</vt:lpstr>
      <vt:lpstr>Figure 22.7 The Heartbleed Exploit</vt:lpstr>
      <vt:lpstr>H T T P S (H T T P over S S L)</vt:lpstr>
      <vt:lpstr>I P Security (I P sec)</vt:lpstr>
      <vt:lpstr>Benefits of I P sec</vt:lpstr>
      <vt:lpstr>The Scope of I P sec</vt:lpstr>
      <vt:lpstr>Security Associations</vt:lpstr>
      <vt:lpstr>Figure 22.8 I P sec E S P Format</vt:lpstr>
      <vt:lpstr>Transport and Tunnel Modes</vt:lpstr>
      <vt:lpstr>Summary</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Engineering and Computer Science</dc:subject>
  <dc:creator>Stallings/Brown</dc:creator>
  <cp:keywords>Computer Security</cp:keywords>
  <dc:description>Long description alt-text is inserted in the notes pane.</dc:description>
  <cp:lastModifiedBy>Windows User</cp:lastModifiedBy>
  <cp:revision>971</cp:revision>
  <dcterms:modified xsi:type="dcterms:W3CDTF">2021-09-20T07:30:52Z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y fmtid="{D5CDD505-2E9C-101B-9397-08002B2CF9AE}" pid="3" name="Order">
    <vt:r8>6372600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